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C4ACF08-1A50-4D84-BC3C-47664DE2A1B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في الشريحة: اسم المشروع بالعربية، إشراف، أعداد الطلبة، الجامعة والكلية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F6D3A3-7150-4DAD-94E0-9EA3F06D68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هذه الشريحة تعرّف المشكلة: التعليم الجامد، غياب تحليل الفجوات، وغياب المسار الشخصي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88CBF8-2E8F-49BF-8D86-E56673544A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هذه الشريحة تلخّص أهداف المشروع: التقييم، تحليل الفجوات، توليد المسارات، التتبع، التحليلات، وإدارة المحتوى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AAE9AD-031D-4070-BA10-4B00CA9F37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هذه الشريحة توضّح العلاقة بين المهارات والمتطلبات المسبقة والفئات والكفاءة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5F1E74-C293-4FDA-B0AF-096D79ABBA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هذه الشريحة توضّح التقييم والمسارات وسجل النشاط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F873EB-573F-4B2F-B40C-DD333D4F7F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المعمارية: ثلاثة تطبيقات (دراسة، إدارة، خادم) + قاعدة بيانات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15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جدول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23CB67-AE25-4793-BC98-52715AFA8C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توضيح تدفّق توليد المسارات: المساعد → التصنيف → الترتيب → المسار → التقدم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49C02A-896E-4C92-A131-6AE14A3EA7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SS-AI: LLM </a:t>
            </a: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محلي مُقيّد، لا يتجاوز التقييم الحاسم، افتراضيًا معطّل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4B5B36-34E8-4329-87CB-AC12CB69AC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الرسم التوضيحي الشامل لنموذج البيانات: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15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جدول،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سياقات فرعية، صارم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FDFD83-CD7A-4674-AD2A-674C14D875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سياق الفهرس: الفئات والمهارات والمتطلبات والأدوار المهنية والموارد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453609-9F7E-4394-92AB-3F16AC2609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سياق التقييم: الاختبارات، الأسئلة، النتائج، وكتابة الكفاءة في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user_skills.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F2D695-65BA-49B7-93F2-DC3B0317F9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سياق التعلّم: المسارات والخطوات والتقدم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442F3A-16C9-4894-936E-59DBD1F6F6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سياق التفاعل: سجل النشاط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(append-only audit trail) </a:t>
            </a: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مع أنواع الفئات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7BEFD8-9D69-49A9-BCBE-1C0263074A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حالات الاستخدام: المتعلم — التسجيل، المساعد، التقييم، الإكمال، الكتالوج، التقدم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986677-2D09-4B40-A29D-DC0119B978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حالات الاستخدام: المدير — إدارة المستخدمين والمهارات والموارد والاختبارات والنسخ الاحتياطي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2F636B-D3FD-4BD4-A57C-C2540B3D4A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السيناريو الشامل: رحلة المتعلّم خطوة بخطوة مع تدفّق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3976E3-1FA9-46DF-8F76-237A46E645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السياقات الفرعية الأربعة: الفهرس، التقييم، التعلّم، التفاعل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938B5D-E7DC-4C7D-A0E3-8E05A11794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المزايا التقنية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Clean Architecture</a:t>
            </a: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3NF</a:t>
            </a: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، </a:t>
            </a: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الأمان، الجودة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BCFF22-1DB0-474E-AE1A-CECA389E18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النتائج والفوائد: إحصائيات، تمكين المتعلّم، الشفافية، قابلية التوسع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7B7591-94DE-47DB-83C2-64DAA50A58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الخاتمة: شكر وتقدير، أسماء الفريق والمشرّفين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4CC9C5-33C4-44B8-86E6-8A0438D220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A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1962000" y="27432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 anchorCtr="1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CFC3AE"/>
                </a:solidFill>
                <a:effectLst/>
                <a:uFillTx/>
                <a:latin typeface="Tajawal"/>
                <a:cs typeface="Tajawal"/>
              </a:rPr>
              <a:t>جامعة حلب — كلية الهندسة المعلوماتية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7200" y="59436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7C8A6B"/>
                </a:solidFill>
                <a:effectLst/>
                <a:uFillTx/>
                <a:latin typeface="Tajawal"/>
                <a:cs typeface="Tajawal"/>
              </a:rPr>
              <a:t>مشروع السنة الرابعة — </a:t>
            </a:r>
            <a:r>
              <a:rPr lang="hi-IN" sz="1100" b="0" u="none" strike="noStrike">
                <a:solidFill>
                  <a:srgbClr val="7C8A6B"/>
                </a:solidFill>
                <a:effectLst/>
                <a:uFillTx/>
                <a:latin typeface="Tajawal"/>
                <a:cs typeface="Tajawal"/>
              </a:rPr>
              <a:t>٢٠٢٥</a:t>
            </a:r>
            <a:r>
              <a:rPr lang="en-US" sz="1100" b="0" u="none" strike="noStrike">
                <a:solidFill>
                  <a:srgbClr val="7C8A6B"/>
                </a:solidFill>
                <a:effectLst/>
                <a:uFillTx/>
                <a:latin typeface="Tajawal"/>
                <a:ea typeface="Tajawal"/>
              </a:rPr>
              <a:t>–</a:t>
            </a:r>
            <a:r>
              <a:rPr lang="hi-IN" sz="1100" b="0" u="none" strike="noStrike">
                <a:solidFill>
                  <a:srgbClr val="7C8A6B"/>
                </a:solidFill>
                <a:effectLst/>
                <a:uFillTx/>
                <a:latin typeface="Tajawal"/>
                <a:cs typeface="Tajawal"/>
              </a:rPr>
              <a:t>٢٠٢٦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" y="10972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SkillSynth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17830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0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منظومة ذكية للتعلم التكيفي وبناء المهارات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22402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7C8A6B"/>
                </a:solidFill>
                <a:effectLst/>
                <a:uFillTx/>
                <a:latin typeface="Tajawal"/>
                <a:cs typeface="Tajawal"/>
              </a:rPr>
              <a:t>تَرسم مسارًا مهنيًا شخصيًا خطوة بخطوة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3200400" y="2788920"/>
            <a:ext cx="2742840" cy="13320"/>
          </a:xfrm>
          <a:prstGeom prst="rect">
            <a:avLst/>
          </a:prstGeom>
          <a:solidFill>
            <a:srgbClr val="B586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1320" rIns="90000" bIns="-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457200" y="29260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 anchorCtr="1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إشراف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457200" y="32004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 anchorCtr="1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CFC3AE"/>
                </a:solidFill>
                <a:effectLst/>
                <a:uFillTx/>
                <a:latin typeface="Tajawal"/>
                <a:cs typeface="Tajawal"/>
              </a:rPr>
              <a:t>د. بدر الدين قصاب — د. سهيل خواتمي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457200" y="36118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 anchorCtr="1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إعداد الطلبة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457200" y="38862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 anchorCtr="1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CFC3AE"/>
                </a:solidFill>
                <a:effectLst/>
                <a:uFillTx/>
                <a:latin typeface="Tajawal"/>
                <a:cs typeface="Tajawal"/>
              </a:rPr>
              <a:t>زهير حمامي — </a:t>
            </a:r>
            <a:r>
              <a:rPr lang="hi-IN" sz="1400" b="0" u="none" strike="noStrike">
                <a:solidFill>
                  <a:srgbClr val="CFC3AE"/>
                </a:solidFill>
                <a:effectLst/>
                <a:uFillTx/>
                <a:latin typeface="Tajawal"/>
                <a:cs typeface="Tajawal"/>
              </a:rPr>
              <a:t>علي عثمان عبد الملك 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457200" y="41605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 anchorCtr="1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CFC3AE"/>
                </a:solidFill>
                <a:effectLst/>
                <a:uFillTx/>
                <a:latin typeface="Tajawal"/>
                <a:cs typeface="Tajawal"/>
              </a:rPr>
              <a:t>مصطفى منلا محمد — أحمد أحمد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8321040" y="320040"/>
            <a:ext cx="411120" cy="41112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8321040" y="338400"/>
            <a:ext cx="411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١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457200" y="32004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المقدمة — المشكلة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4663440" y="1051560"/>
            <a:ext cx="397728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4754880" y="1124640"/>
            <a:ext cx="3794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8A6520"/>
                </a:solidFill>
                <a:effectLst/>
                <a:uFillTx/>
                <a:latin typeface="Tajawal"/>
                <a:cs typeface="Tajawal"/>
              </a:rPr>
              <a:t>استثناء التعلم العام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4754880" y="1371600"/>
            <a:ext cx="3794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معظم المنصات التعليمية تُقدّم محتوى ثابتًا لكل المتعلمين، مع إهمال الفروق الفردية في المعارف والمهارات السابقة.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6"/>
          <p:cNvSpPr/>
          <p:nvPr/>
        </p:nvSpPr>
        <p:spPr>
          <a:xfrm>
            <a:off x="4663440" y="1965960"/>
            <a:ext cx="397728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4754880" y="2039040"/>
            <a:ext cx="3794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8A6520"/>
                </a:solidFill>
                <a:effectLst/>
                <a:uFillTx/>
                <a:latin typeface="Tajawal"/>
                <a:cs typeface="Tajawal"/>
              </a:rPr>
              <a:t>غياب تحليل الفجوات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8"/>
          <p:cNvSpPr/>
          <p:nvPr/>
        </p:nvSpPr>
        <p:spPr>
          <a:xfrm>
            <a:off x="4754880" y="2286000"/>
            <a:ext cx="3794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لا تتوفر أداة فعّالة لتحديد مهارات المتعلّم الناقصة ومعرفة متطلباتها التمهيدية تلقائيًا.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9"/>
          <p:cNvSpPr/>
          <p:nvPr/>
        </p:nvSpPr>
        <p:spPr>
          <a:xfrm>
            <a:off x="4663440" y="2880360"/>
            <a:ext cx="397728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4754880" y="2953440"/>
            <a:ext cx="3794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tabLst>
                <a:tab pos="0" algn="l"/>
              </a:tabLst>
            </a:pPr>
            <a:r>
              <a:rPr lang="hi-IN" sz="1400" b="1" u="none" strike="noStrike">
                <a:solidFill>
                  <a:srgbClr val="8A6520"/>
                </a:solidFill>
                <a:effectLst/>
                <a:uFillTx/>
                <a:latin typeface="Tajawal"/>
                <a:cs typeface="Tajawal"/>
              </a:rPr>
              <a:t>غياب المسار الشخصي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1"/>
          <p:cNvSpPr/>
          <p:nvPr/>
        </p:nvSpPr>
        <p:spPr>
          <a:xfrm>
            <a:off x="4754880" y="3200400"/>
            <a:ext cx="3794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لا يوجد آليّة توليد مسار تعليمي مبني على متطلبات مسبقة ومتسلسلة وفق فرع المعلومات للمتعلّم.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4663440" y="3794760"/>
            <a:ext cx="397728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4754880" y="3867840"/>
            <a:ext cx="3794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tabLst>
                <a:tab pos="0" algn="l"/>
              </a:tabLst>
            </a:pPr>
            <a:r>
              <a:rPr lang="hi-IN" sz="1400" b="1" u="none" strike="noStrike">
                <a:solidFill>
                  <a:srgbClr val="8A6520"/>
                </a:solidFill>
                <a:effectLst/>
                <a:uFillTx/>
                <a:latin typeface="Tajawal"/>
                <a:cs typeface="Tajawal"/>
              </a:rPr>
              <a:t>ضعف</a:t>
            </a:r>
            <a:r>
              <a:rPr lang="en-US" sz="1400" b="1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 التتبع والتقييم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4"/>
          <p:cNvSpPr/>
          <p:nvPr/>
        </p:nvSpPr>
        <p:spPr>
          <a:xfrm>
            <a:off x="4754880" y="4114800"/>
            <a:ext cx="3794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غياب نظام تقييم يقيس مستوى الكفاءة ويُحدّثه في الوقت الحقيقي بناءً على أداء المتعلّم.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5"/>
          <p:cNvSpPr/>
          <p:nvPr/>
        </p:nvSpPr>
        <p:spPr>
          <a:xfrm>
            <a:off x="457200" y="1051560"/>
            <a:ext cx="3977280" cy="3520080"/>
          </a:xfrm>
          <a:prstGeom prst="roundRect">
            <a:avLst>
              <a:gd name="adj" fmla="val 2078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6"/>
          <p:cNvSpPr/>
          <p:nvPr/>
        </p:nvSpPr>
        <p:spPr>
          <a:xfrm>
            <a:off x="640080" y="1234440"/>
            <a:ext cx="3611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الحاجة إلى منظومة ذكية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7"/>
          <p:cNvSpPr/>
          <p:nvPr/>
        </p:nvSpPr>
        <p:spPr>
          <a:xfrm>
            <a:off x="640080" y="1645920"/>
            <a:ext cx="361152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منظومة تعليمية تكيفية تجمع بين تقييم المهارات، وتحليل الفجوات، وتوليد مسارات تعليمية شخصية مبنيّة على متطلبات مسبقة وفق شجرة معلومات (</a:t>
            </a:r>
            <a:r>
              <a:rPr lang="en-US" sz="13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DAG</a:t>
            </a:r>
            <a:r>
              <a:rPr lang="en-US" sz="13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8321040" y="320040"/>
            <a:ext cx="411120" cy="41112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8321040" y="338400"/>
            <a:ext cx="411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٢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457200" y="32004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أهداف المشروع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"/>
          <p:cNvSpPr/>
          <p:nvPr/>
        </p:nvSpPr>
        <p:spPr>
          <a:xfrm>
            <a:off x="4663440" y="1005840"/>
            <a:ext cx="397728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4800600" y="1060560"/>
            <a:ext cx="3702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تقييم المهارات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4800600" y="132588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بناء نظام تقييم دقيق يقيس كفاءة المتعلّم في كل مهارة (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0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–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5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) باستخدام بنك أسئلة قياسي.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6"/>
          <p:cNvSpPr/>
          <p:nvPr/>
        </p:nvSpPr>
        <p:spPr>
          <a:xfrm>
            <a:off x="457200" y="1005840"/>
            <a:ext cx="397728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7"/>
          <p:cNvSpPr/>
          <p:nvPr/>
        </p:nvSpPr>
        <p:spPr>
          <a:xfrm>
            <a:off x="594360" y="1060560"/>
            <a:ext cx="3702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تحليل الفجوات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8"/>
          <p:cNvSpPr/>
          <p:nvPr/>
        </p:nvSpPr>
        <p:spPr>
          <a:xfrm>
            <a:off x="594360" y="132588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تحليل شجرة المتطلبات المسبقة وتحديد المهارات الناقصة تلقائيًا وفق مستوى الكفاءة الحالي.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9"/>
          <p:cNvSpPr/>
          <p:nvPr/>
        </p:nvSpPr>
        <p:spPr>
          <a:xfrm>
            <a:off x="4663440" y="1828800"/>
            <a:ext cx="397728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0"/>
          <p:cNvSpPr/>
          <p:nvPr/>
        </p:nvSpPr>
        <p:spPr>
          <a:xfrm>
            <a:off x="4800600" y="1883520"/>
            <a:ext cx="3702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توليد المسارات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4800600" y="214884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إنشاء مسار تعليمي شخصي مرتبّط بدور مهني محدّد، مرتّب خوارزميًا (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Kahn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) وفق التسلسل المعرفي.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2"/>
          <p:cNvSpPr/>
          <p:nvPr/>
        </p:nvSpPr>
        <p:spPr>
          <a:xfrm>
            <a:off x="457200" y="1828800"/>
            <a:ext cx="397728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3"/>
          <p:cNvSpPr/>
          <p:nvPr/>
        </p:nvSpPr>
        <p:spPr>
          <a:xfrm>
            <a:off x="594360" y="1883520"/>
            <a:ext cx="3702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تتبع التقدم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4"/>
          <p:cNvSpPr/>
          <p:nvPr/>
        </p:nvSpPr>
        <p:spPr>
          <a:xfrm>
            <a:off x="594360" y="214884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متابعة تقدّم المتعلّم خطوة بخطوة مع تحديث مستوى الكفاءة في الوقت الحقيقي.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5"/>
          <p:cNvSpPr/>
          <p:nvPr/>
        </p:nvSpPr>
        <p:spPr>
          <a:xfrm>
            <a:off x="4663440" y="2651760"/>
            <a:ext cx="397728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6"/>
          <p:cNvSpPr/>
          <p:nvPr/>
        </p:nvSpPr>
        <p:spPr>
          <a:xfrm>
            <a:off x="4800600" y="2706480"/>
            <a:ext cx="3702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لوحة التحليلات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7"/>
          <p:cNvSpPr/>
          <p:nvPr/>
        </p:nvSpPr>
        <p:spPr>
          <a:xfrm>
            <a:off x="4800600" y="297180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عرض إحصائيات التعلّم: المهارات المتقنة، سرعة التعلّم، نمو المهارات، وسجل النشاط.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8"/>
          <p:cNvSpPr/>
          <p:nvPr/>
        </p:nvSpPr>
        <p:spPr>
          <a:xfrm>
            <a:off x="457200" y="2651760"/>
            <a:ext cx="397728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9"/>
          <p:cNvSpPr/>
          <p:nvPr/>
        </p:nvSpPr>
        <p:spPr>
          <a:xfrm>
            <a:off x="594360" y="2706480"/>
            <a:ext cx="3702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إدارة المحتوى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0"/>
          <p:cNvSpPr/>
          <p:nvPr/>
        </p:nvSpPr>
        <p:spPr>
          <a:xfrm>
            <a:off x="594360" y="297180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لوحة تحكم شاملة للمدير لإدارة المستخدمين والمهارات والموارد والاختبارات مع ضمان سلامة البيانات.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8321040" y="320040"/>
            <a:ext cx="411120" cy="41112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8321040" y="338400"/>
            <a:ext cx="411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٣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457200" y="32004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6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المفاهيم الأساسية — المهارات والمتطلبات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3200400" y="1188720"/>
            <a:ext cx="2742840" cy="639720"/>
          </a:xfrm>
          <a:prstGeom prst="roundRect">
            <a:avLst>
              <a:gd name="adj" fmla="val 11429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3200400" y="12344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مهارة (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ajawal"/>
                <a:ea typeface="Tajawal"/>
              </a:rPr>
              <a:t>Skill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3200400" y="15087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FC3AE"/>
                </a:solidFill>
                <a:effectLst/>
                <a:uFillTx/>
                <a:latin typeface="Tajawal"/>
                <a:ea typeface="Tajawal"/>
              </a:rPr>
              <a:t>difficulty · estimated_hours · icon · color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6"/>
          <p:cNvSpPr/>
          <p:nvPr/>
        </p:nvSpPr>
        <p:spPr>
          <a:xfrm>
            <a:off x="6583680" y="1188720"/>
            <a:ext cx="2102760" cy="639720"/>
          </a:xfrm>
          <a:prstGeom prst="roundRect">
            <a:avLst>
              <a:gd name="adj" fmla="val 11429"/>
            </a:avLst>
          </a:prstGeom>
          <a:solidFill>
            <a:srgbClr val="B5862E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6583680" y="123444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فئة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ajawal"/>
                <a:ea typeface="Tajawal"/>
              </a:rPr>
              <a:t>(Category)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6583680" y="1463040"/>
            <a:ext cx="2102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parent_id → self-ref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9"/>
          <p:cNvSpPr/>
          <p:nvPr/>
        </p:nvSpPr>
        <p:spPr>
          <a:xfrm>
            <a:off x="5943600" y="1463040"/>
            <a:ext cx="639720" cy="1800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0"/>
          <p:cNvSpPr/>
          <p:nvPr/>
        </p:nvSpPr>
        <p:spPr>
          <a:xfrm>
            <a:off x="457200" y="2103120"/>
            <a:ext cx="2559960" cy="41112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1"/>
          <p:cNvSpPr/>
          <p:nvPr/>
        </p:nvSpPr>
        <p:spPr>
          <a:xfrm>
            <a:off x="457200" y="21488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المهارة أ (</a:t>
            </a:r>
            <a:r>
              <a:rPr lang="en-US" sz="11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PK</a:t>
            </a:r>
            <a:r>
              <a:rPr lang="en-US" sz="11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2"/>
          <p:cNvSpPr/>
          <p:nvPr/>
        </p:nvSpPr>
        <p:spPr>
          <a:xfrm>
            <a:off x="457200" y="2606040"/>
            <a:ext cx="2559960" cy="41112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3"/>
          <p:cNvSpPr/>
          <p:nvPr/>
        </p:nvSpPr>
        <p:spPr>
          <a:xfrm>
            <a:off x="457200" y="265176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المهارة ب (</a:t>
            </a:r>
            <a:r>
              <a:rPr lang="en-US" sz="11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PK</a:t>
            </a:r>
            <a:r>
              <a:rPr lang="en-US" sz="11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4"/>
          <p:cNvSpPr/>
          <p:nvPr/>
        </p:nvSpPr>
        <p:spPr>
          <a:xfrm>
            <a:off x="457200" y="3108960"/>
            <a:ext cx="2559960" cy="41112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5"/>
          <p:cNvSpPr/>
          <p:nvPr/>
        </p:nvSpPr>
        <p:spPr>
          <a:xfrm>
            <a:off x="457200" y="315468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المهارة ج (</a:t>
            </a:r>
            <a:r>
              <a:rPr lang="en-US" sz="11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PK</a:t>
            </a:r>
            <a:r>
              <a:rPr lang="en-US" sz="11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6"/>
          <p:cNvSpPr/>
          <p:nvPr/>
        </p:nvSpPr>
        <p:spPr>
          <a:xfrm>
            <a:off x="3200400" y="2377440"/>
            <a:ext cx="2742840" cy="594000"/>
          </a:xfrm>
          <a:prstGeom prst="roundRect">
            <a:avLst>
              <a:gd name="adj" fmla="val 12308"/>
            </a:avLst>
          </a:prstGeom>
          <a:solidFill>
            <a:srgbClr val="B5862E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7"/>
          <p:cNvSpPr/>
          <p:nvPr/>
        </p:nvSpPr>
        <p:spPr>
          <a:xfrm>
            <a:off x="3200400" y="242316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ajawal"/>
                <a:ea typeface="Tajawal"/>
              </a:rPr>
              <a:t>skill_prerequisites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8"/>
          <p:cNvSpPr/>
          <p:nvPr/>
        </p:nvSpPr>
        <p:spPr>
          <a:xfrm>
            <a:off x="3200400" y="265176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skill_id FK + prerequisite_id FK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9"/>
          <p:cNvSpPr/>
          <p:nvPr/>
        </p:nvSpPr>
        <p:spPr>
          <a:xfrm>
            <a:off x="3017520" y="2560320"/>
            <a:ext cx="182520" cy="1800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0"/>
          <p:cNvSpPr/>
          <p:nvPr/>
        </p:nvSpPr>
        <p:spPr>
          <a:xfrm>
            <a:off x="3200400" y="3291840"/>
            <a:ext cx="2742840" cy="594000"/>
          </a:xfrm>
          <a:prstGeom prst="roundRect">
            <a:avLst>
              <a:gd name="adj" fmla="val 12308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1"/>
          <p:cNvSpPr/>
          <p:nvPr/>
        </p:nvSpPr>
        <p:spPr>
          <a:xfrm>
            <a:off x="3200400" y="333756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كفاءة المستخدم (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ajawal"/>
                <a:ea typeface="Tajawal"/>
              </a:rPr>
              <a:t>user_skills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2"/>
          <p:cNvSpPr/>
          <p:nvPr/>
        </p:nvSpPr>
        <p:spPr>
          <a:xfrm>
            <a:off x="3200400" y="356616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FC3AE"/>
                </a:solidFill>
                <a:effectLst/>
                <a:uFillTx/>
                <a:latin typeface="Tajawal"/>
                <a:ea typeface="Tajawal"/>
              </a:rPr>
              <a:t>user_id + skill_id + proficiency_level (0–5)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3"/>
          <p:cNvSpPr/>
          <p:nvPr/>
        </p:nvSpPr>
        <p:spPr>
          <a:xfrm>
            <a:off x="6583680" y="2103120"/>
            <a:ext cx="2102760" cy="1828440"/>
          </a:xfrm>
          <a:prstGeom prst="roundRect">
            <a:avLst>
              <a:gd name="adj" fmla="val 4000"/>
            </a:avLst>
          </a:prstGeom>
          <a:solidFill>
            <a:srgbClr val="FBF6E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4"/>
          <p:cNvSpPr/>
          <p:nvPr/>
        </p:nvSpPr>
        <p:spPr>
          <a:xfrm>
            <a:off x="6675120" y="219456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8A6520"/>
                </a:solidFill>
                <a:effectLst/>
                <a:uFillTx/>
                <a:latin typeface="Tajawal"/>
                <a:cs typeface="Tajawal"/>
              </a:rPr>
              <a:t>المفاهيم الأساسية</a:t>
            </a:r>
            <a:r>
              <a:rPr lang="en-US" sz="1300" b="1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5"/>
          <p:cNvSpPr/>
          <p:nvPr/>
        </p:nvSpPr>
        <p:spPr>
          <a:xfrm>
            <a:off x="6675120" y="2468880"/>
            <a:ext cx="19198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• شجرة المتطلبات: 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DAG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• خوارزمية 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Kahn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للترتيب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• الفئات⟹ تسلسل شجري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• الأدوار المهنية ⟹ أوزان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8321040" y="320040"/>
            <a:ext cx="411120" cy="41112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8321040" y="338400"/>
            <a:ext cx="411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٤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"/>
          <p:cNvSpPr/>
          <p:nvPr/>
        </p:nvSpPr>
        <p:spPr>
          <a:xfrm>
            <a:off x="457200" y="32004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6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المفاهيم الأساسية — التقييم والمسارات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3"/>
          <p:cNvSpPr/>
          <p:nvPr/>
        </p:nvSpPr>
        <p:spPr>
          <a:xfrm>
            <a:off x="4846320" y="1097280"/>
            <a:ext cx="384012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4937760" y="11520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اختبار (</a:t>
            </a: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Assessment</a:t>
            </a: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5"/>
          <p:cNvSpPr/>
          <p:nvPr/>
        </p:nvSpPr>
        <p:spPr>
          <a:xfrm>
            <a:off x="4937760" y="141732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question bank · pass_score · 0–5 scoring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6"/>
          <p:cNvSpPr/>
          <p:nvPr/>
        </p:nvSpPr>
        <p:spPr>
          <a:xfrm>
            <a:off x="4846320" y="1874520"/>
            <a:ext cx="384012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7"/>
          <p:cNvSpPr/>
          <p:nvPr/>
        </p:nvSpPr>
        <p:spPr>
          <a:xfrm>
            <a:off x="4937760" y="1929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سؤال (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Question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8"/>
          <p:cNvSpPr/>
          <p:nvPr/>
        </p:nvSpPr>
        <p:spPr>
          <a:xfrm>
            <a:off x="4937760" y="219456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prompt · options (JSON) · correct_index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9"/>
          <p:cNvSpPr/>
          <p:nvPr/>
        </p:nvSpPr>
        <p:spPr>
          <a:xfrm>
            <a:off x="4846320" y="2651760"/>
            <a:ext cx="384012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0"/>
          <p:cNvSpPr/>
          <p:nvPr/>
        </p:nvSpPr>
        <p:spPr>
          <a:xfrm>
            <a:off x="4937760" y="27064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نتيجة (</a:t>
            </a: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Result</a:t>
            </a: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1"/>
          <p:cNvSpPr/>
          <p:nvPr/>
        </p:nvSpPr>
        <p:spPr>
          <a:xfrm>
            <a:off x="4937760" y="297180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user_id + assessment_id + score + passed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2"/>
          <p:cNvSpPr/>
          <p:nvPr/>
        </p:nvSpPr>
        <p:spPr>
          <a:xfrm>
            <a:off x="4846320" y="3429000"/>
            <a:ext cx="384012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3"/>
          <p:cNvSpPr/>
          <p:nvPr/>
        </p:nvSpPr>
        <p:spPr>
          <a:xfrm>
            <a:off x="4937760" y="34837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كفاءة (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UserSkill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4"/>
          <p:cNvSpPr/>
          <p:nvPr/>
        </p:nvSpPr>
        <p:spPr>
          <a:xfrm>
            <a:off x="4937760" y="374904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proficiency_level · last_assessed_at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5"/>
          <p:cNvSpPr/>
          <p:nvPr/>
        </p:nvSpPr>
        <p:spPr>
          <a:xfrm>
            <a:off x="457200" y="1097280"/>
            <a:ext cx="384012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6"/>
          <p:cNvSpPr/>
          <p:nvPr/>
        </p:nvSpPr>
        <p:spPr>
          <a:xfrm>
            <a:off x="548640" y="11520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مسار (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Path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7"/>
          <p:cNvSpPr/>
          <p:nvPr/>
        </p:nvSpPr>
        <p:spPr>
          <a:xfrm>
            <a:off x="548640" y="141732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user_id · title · target_role · status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8"/>
          <p:cNvSpPr/>
          <p:nvPr/>
        </p:nvSpPr>
        <p:spPr>
          <a:xfrm>
            <a:off x="457200" y="2057400"/>
            <a:ext cx="384012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9"/>
          <p:cNvSpPr/>
          <p:nvPr/>
        </p:nvSpPr>
        <p:spPr>
          <a:xfrm>
            <a:off x="548640" y="21121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خطوة (</a:t>
            </a: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Step</a:t>
            </a: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0"/>
          <p:cNvSpPr/>
          <p:nvPr/>
        </p:nvSpPr>
        <p:spPr>
          <a:xfrm>
            <a:off x="548640" y="237744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skill_id · position · resource_ids · assessment_ids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1"/>
          <p:cNvSpPr/>
          <p:nvPr/>
        </p:nvSpPr>
        <p:spPr>
          <a:xfrm>
            <a:off x="457200" y="3017520"/>
            <a:ext cx="384012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2"/>
          <p:cNvSpPr/>
          <p:nvPr/>
        </p:nvSpPr>
        <p:spPr>
          <a:xfrm>
            <a:off x="548640" y="3072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تقدم (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Progress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3"/>
          <p:cNvSpPr/>
          <p:nvPr/>
        </p:nvSpPr>
        <p:spPr>
          <a:xfrm>
            <a:off x="548640" y="333756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user_id + step_id + completed_at + score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4"/>
          <p:cNvSpPr/>
          <p:nvPr/>
        </p:nvSpPr>
        <p:spPr>
          <a:xfrm>
            <a:off x="4846320" y="86868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تقييم المهارات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5"/>
          <p:cNvSpPr/>
          <p:nvPr/>
        </p:nvSpPr>
        <p:spPr>
          <a:xfrm>
            <a:off x="457200" y="86868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مسارات التعلّم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6"/>
          <p:cNvSpPr/>
          <p:nvPr/>
        </p:nvSpPr>
        <p:spPr>
          <a:xfrm>
            <a:off x="457200" y="4135320"/>
            <a:ext cx="8229240" cy="914040"/>
          </a:xfrm>
          <a:prstGeom prst="roundRect">
            <a:avLst>
              <a:gd name="adj" fmla="val 8000"/>
            </a:avLst>
          </a:prstGeom>
          <a:solidFill>
            <a:srgbClr val="FBF6E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7"/>
          <p:cNvSpPr/>
          <p:nvPr/>
        </p:nvSpPr>
        <p:spPr>
          <a:xfrm>
            <a:off x="640080" y="419940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8A6520"/>
                </a:solidFill>
                <a:effectLst/>
                <a:uFillTx/>
                <a:latin typeface="Tajawal"/>
                <a:cs typeface="Tajawal"/>
              </a:rPr>
              <a:t>سجل النشاط (</a:t>
            </a:r>
            <a:r>
              <a:rPr lang="en-US" sz="1400" b="1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activity_log</a:t>
            </a:r>
            <a:r>
              <a:rPr lang="en-US" sz="1400" b="1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8"/>
          <p:cNvSpPr/>
          <p:nvPr/>
        </p:nvSpPr>
        <p:spPr>
          <a:xfrm>
            <a:off x="640080" y="4527360"/>
            <a:ext cx="7863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يُسجّل كل نشاط للمستخدم: تسجيل الدخول، اكتمال خطوة، إكمال اختبار، توليد مسار — مع البيانات الوصفية (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IP</a:t>
            </a: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، 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user_agent</a:t>
            </a: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، 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TIMESTAMP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0"/>
          <p:cNvSpPr/>
          <p:nvPr/>
        </p:nvSpPr>
        <p:spPr>
          <a:xfrm>
            <a:off x="8321040" y="320040"/>
            <a:ext cx="411120" cy="41112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"/>
          <p:cNvSpPr/>
          <p:nvPr/>
        </p:nvSpPr>
        <p:spPr>
          <a:xfrm>
            <a:off x="8321040" y="338400"/>
            <a:ext cx="411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٥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457200" y="32004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معمارية النظام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3"/>
          <p:cNvSpPr/>
          <p:nvPr/>
        </p:nvSpPr>
        <p:spPr>
          <a:xfrm>
            <a:off x="457200" y="1097280"/>
            <a:ext cx="2559960" cy="1462680"/>
          </a:xfrm>
          <a:prstGeom prst="roundRect">
            <a:avLst>
              <a:gd name="adj" fmla="val 5000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4"/>
          <p:cNvSpPr/>
          <p:nvPr/>
        </p:nvSpPr>
        <p:spPr>
          <a:xfrm>
            <a:off x="457200" y="118872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التطبيق الدراسي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5"/>
          <p:cNvSpPr/>
          <p:nvPr/>
        </p:nvSpPr>
        <p:spPr>
          <a:xfrm>
            <a:off x="457200" y="150876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FC3AE"/>
                </a:solidFill>
                <a:effectLst/>
                <a:uFillTx/>
                <a:latin typeface="Tajawal"/>
                <a:ea typeface="Tajawal"/>
              </a:rPr>
              <a:t>TypeScript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6"/>
          <p:cNvSpPr/>
          <p:nvPr/>
        </p:nvSpPr>
        <p:spPr>
          <a:xfrm>
            <a:off x="457200" y="196596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FC3AE"/>
                </a:solidFill>
                <a:effectLst/>
                <a:uFillTx/>
                <a:latin typeface="Tajawal"/>
                <a:ea typeface="Tajawal"/>
              </a:rPr>
              <a:t>3000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7"/>
          <p:cNvSpPr/>
          <p:nvPr/>
        </p:nvSpPr>
        <p:spPr>
          <a:xfrm>
            <a:off x="457200" y="2834640"/>
            <a:ext cx="2559960" cy="1462680"/>
          </a:xfrm>
          <a:prstGeom prst="roundRect">
            <a:avLst>
              <a:gd name="adj" fmla="val 5000"/>
            </a:avLst>
          </a:prstGeom>
          <a:solidFill>
            <a:srgbClr val="B5862E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8"/>
          <p:cNvSpPr/>
          <p:nvPr/>
        </p:nvSpPr>
        <p:spPr>
          <a:xfrm>
            <a:off x="457200" y="292608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تطبيق الإدارة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9"/>
          <p:cNvSpPr/>
          <p:nvPr/>
        </p:nvSpPr>
        <p:spPr>
          <a:xfrm>
            <a:off x="457200" y="324612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TypeScript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0"/>
          <p:cNvSpPr/>
          <p:nvPr/>
        </p:nvSpPr>
        <p:spPr>
          <a:xfrm>
            <a:off x="457200" y="370332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3001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1"/>
          <p:cNvSpPr/>
          <p:nvPr/>
        </p:nvSpPr>
        <p:spPr>
          <a:xfrm>
            <a:off x="3017520" y="1737360"/>
            <a:ext cx="822600" cy="1800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2"/>
          <p:cNvSpPr/>
          <p:nvPr/>
        </p:nvSpPr>
        <p:spPr>
          <a:xfrm>
            <a:off x="3017520" y="3474720"/>
            <a:ext cx="822600" cy="1800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3"/>
          <p:cNvSpPr/>
          <p:nvPr/>
        </p:nvSpPr>
        <p:spPr>
          <a:xfrm>
            <a:off x="3017520" y="2240280"/>
            <a:ext cx="822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REST + SSE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JWT Bearer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4"/>
          <p:cNvSpPr/>
          <p:nvPr/>
        </p:nvSpPr>
        <p:spPr>
          <a:xfrm>
            <a:off x="4114800" y="1097280"/>
            <a:ext cx="4571640" cy="1462680"/>
          </a:xfrm>
          <a:prstGeom prst="roundRect">
            <a:avLst>
              <a:gd name="adj" fmla="val 5000"/>
            </a:avLst>
          </a:prstGeom>
          <a:solidFill>
            <a:srgbClr val="2A2521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5"/>
          <p:cNvSpPr/>
          <p:nvPr/>
        </p:nvSpPr>
        <p:spPr>
          <a:xfrm>
            <a:off x="4114800" y="11887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5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الخادم (</a:t>
            </a:r>
            <a:r>
              <a:rPr lang="en-US" sz="15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FastAPI</a:t>
            </a:r>
            <a:r>
              <a:rPr lang="en-US" sz="15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6"/>
          <p:cNvSpPr/>
          <p:nvPr/>
        </p:nvSpPr>
        <p:spPr>
          <a:xfrm>
            <a:off x="4114800" y="1508760"/>
            <a:ext cx="4571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FC3AE"/>
                </a:solidFill>
                <a:effectLst/>
                <a:uFillTx/>
                <a:latin typeface="Tajawal"/>
                <a:ea typeface="Tajawal"/>
              </a:rPr>
              <a:t>FastAPI + SQLAlchemy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FC3AE"/>
                </a:solidFill>
                <a:effectLst/>
                <a:uFillTx/>
                <a:latin typeface="Tajawal"/>
                <a:ea typeface="Tajawal"/>
              </a:rPr>
              <a:t>Clean Architecture</a:t>
            </a:r>
            <a:r>
              <a:rPr lang="en-US" sz="1100" b="0" u="none" strike="noStrike">
                <a:solidFill>
                  <a:srgbClr val="CFC3AE"/>
                </a:solidFill>
                <a:effectLst/>
                <a:uFillTx/>
                <a:latin typeface="Tajawal"/>
                <a:ea typeface="Tajawal"/>
              </a:rPr>
              <a:t> (</a:t>
            </a:r>
            <a:r>
              <a:rPr lang="en-US" sz="1100" b="0" u="none" strike="noStrike">
                <a:solidFill>
                  <a:srgbClr val="CFC3AE"/>
                </a:solidFill>
                <a:effectLst/>
                <a:uFillTx/>
                <a:latin typeface="Tajawal"/>
                <a:ea typeface="Tajawal"/>
              </a:rPr>
              <a:t>8</a:t>
            </a:r>
            <a:r>
              <a:rPr lang="en-US" sz="1100" b="0" u="none" strike="noStrike">
                <a:solidFill>
                  <a:srgbClr val="CFC3AE"/>
                </a:solidFill>
                <a:effectLst/>
                <a:uFillTx/>
                <a:latin typeface="Tajawal"/>
                <a:ea typeface="Tajawal"/>
              </a:rPr>
              <a:t> طبقات)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7"/>
          <p:cNvSpPr/>
          <p:nvPr/>
        </p:nvSpPr>
        <p:spPr>
          <a:xfrm>
            <a:off x="4114800" y="22860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:8000 — /docs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8"/>
          <p:cNvSpPr/>
          <p:nvPr/>
        </p:nvSpPr>
        <p:spPr>
          <a:xfrm>
            <a:off x="5029200" y="2926080"/>
            <a:ext cx="2742840" cy="1371240"/>
          </a:xfrm>
          <a:prstGeom prst="roundRect">
            <a:avLst>
              <a:gd name="adj" fmla="val 5333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9"/>
          <p:cNvSpPr/>
          <p:nvPr/>
        </p:nvSpPr>
        <p:spPr>
          <a:xfrm>
            <a:off x="5029200" y="301752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قاعدة البيانات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0"/>
          <p:cNvSpPr/>
          <p:nvPr/>
        </p:nvSpPr>
        <p:spPr>
          <a:xfrm>
            <a:off x="5029200" y="34293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FC3AE"/>
                </a:solidFill>
                <a:effectLst/>
                <a:uFillTx/>
                <a:latin typeface="Tajawal"/>
                <a:ea typeface="Tajawal"/>
              </a:rPr>
              <a:t>SQLite (dev) / PostgreSQL (prod)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2"/>
          <p:cNvSpPr/>
          <p:nvPr/>
        </p:nvSpPr>
        <p:spPr>
          <a:xfrm>
            <a:off x="6217920" y="2606040"/>
            <a:ext cx="18000" cy="31968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8321040" y="320040"/>
            <a:ext cx="411120" cy="41112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8321040" y="338400"/>
            <a:ext cx="411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٦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457200" y="32004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6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منظومة التعلّم — توليد المسارات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3"/>
          <p:cNvSpPr/>
          <p:nvPr/>
        </p:nvSpPr>
        <p:spPr>
          <a:xfrm>
            <a:off x="457200" y="1188720"/>
            <a:ext cx="1416960" cy="1005480"/>
          </a:xfrm>
          <a:prstGeom prst="roundRect">
            <a:avLst>
              <a:gd name="adj" fmla="val 7273"/>
            </a:avLst>
          </a:prstGeom>
          <a:solidFill>
            <a:srgbClr val="B5862E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4"/>
          <p:cNvSpPr/>
          <p:nvPr/>
        </p:nvSpPr>
        <p:spPr>
          <a:xfrm>
            <a:off x="457200" y="128016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المساعد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5"/>
          <p:cNvSpPr/>
          <p:nvPr/>
        </p:nvSpPr>
        <p:spPr>
          <a:xfrm>
            <a:off x="457200" y="1600200"/>
            <a:ext cx="1416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دور مهني</a:t>
            </a: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+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تفضيلات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6"/>
          <p:cNvSpPr/>
          <p:nvPr/>
        </p:nvSpPr>
        <p:spPr>
          <a:xfrm>
            <a:off x="1874520" y="1682640"/>
            <a:ext cx="136800" cy="1800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7"/>
          <p:cNvSpPr/>
          <p:nvPr/>
        </p:nvSpPr>
        <p:spPr>
          <a:xfrm>
            <a:off x="2011680" y="1188720"/>
            <a:ext cx="1416960" cy="1005480"/>
          </a:xfrm>
          <a:prstGeom prst="roundRect">
            <a:avLst>
              <a:gd name="adj" fmla="val 7273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8"/>
          <p:cNvSpPr/>
          <p:nvPr/>
        </p:nvSpPr>
        <p:spPr>
          <a:xfrm>
            <a:off x="2011680" y="128016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تصنيف المهارات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9"/>
          <p:cNvSpPr/>
          <p:nvPr/>
        </p:nvSpPr>
        <p:spPr>
          <a:xfrm>
            <a:off x="2011680" y="1600200"/>
            <a:ext cx="1416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حساب الأوزان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+ </a:t>
            </a: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الإقصاء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0"/>
          <p:cNvSpPr/>
          <p:nvPr/>
        </p:nvSpPr>
        <p:spPr>
          <a:xfrm>
            <a:off x="3429000" y="1682640"/>
            <a:ext cx="136800" cy="1800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1"/>
          <p:cNvSpPr/>
          <p:nvPr/>
        </p:nvSpPr>
        <p:spPr>
          <a:xfrm>
            <a:off x="3566160" y="1188720"/>
            <a:ext cx="1416960" cy="1005480"/>
          </a:xfrm>
          <a:prstGeom prst="roundRect">
            <a:avLst>
              <a:gd name="adj" fmla="val 7273"/>
            </a:avLst>
          </a:prstGeom>
          <a:solidFill>
            <a:srgbClr val="B5862E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2"/>
          <p:cNvSpPr/>
          <p:nvPr/>
        </p:nvSpPr>
        <p:spPr>
          <a:xfrm>
            <a:off x="3566160" y="128016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ترتيب خوارزمي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3"/>
          <p:cNvSpPr/>
          <p:nvPr/>
        </p:nvSpPr>
        <p:spPr>
          <a:xfrm>
            <a:off x="3566160" y="1600200"/>
            <a:ext cx="1416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Kahn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(DAG topo sort)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4"/>
          <p:cNvSpPr/>
          <p:nvPr/>
        </p:nvSpPr>
        <p:spPr>
          <a:xfrm>
            <a:off x="4983480" y="1682640"/>
            <a:ext cx="136800" cy="1800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5"/>
          <p:cNvSpPr/>
          <p:nvPr/>
        </p:nvSpPr>
        <p:spPr>
          <a:xfrm>
            <a:off x="5120640" y="1188720"/>
            <a:ext cx="1416960" cy="1005480"/>
          </a:xfrm>
          <a:prstGeom prst="roundRect">
            <a:avLst>
              <a:gd name="adj" fmla="val 7273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6"/>
          <p:cNvSpPr/>
          <p:nvPr/>
        </p:nvSpPr>
        <p:spPr>
          <a:xfrm>
            <a:off x="5120640" y="128016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المسار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7"/>
          <p:cNvSpPr/>
          <p:nvPr/>
        </p:nvSpPr>
        <p:spPr>
          <a:xfrm>
            <a:off x="5120640" y="1600200"/>
            <a:ext cx="1416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خطوات مرتّبة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+ </a:t>
            </a: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موارد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8"/>
          <p:cNvSpPr/>
          <p:nvPr/>
        </p:nvSpPr>
        <p:spPr>
          <a:xfrm>
            <a:off x="6537960" y="1682640"/>
            <a:ext cx="136800" cy="1800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9"/>
          <p:cNvSpPr/>
          <p:nvPr/>
        </p:nvSpPr>
        <p:spPr>
          <a:xfrm>
            <a:off x="6675120" y="1188720"/>
            <a:ext cx="1416960" cy="1005480"/>
          </a:xfrm>
          <a:prstGeom prst="roundRect">
            <a:avLst>
              <a:gd name="adj" fmla="val 7273"/>
            </a:avLst>
          </a:prstGeom>
          <a:solidFill>
            <a:srgbClr val="B5862E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0"/>
          <p:cNvSpPr/>
          <p:nvPr/>
        </p:nvSpPr>
        <p:spPr>
          <a:xfrm>
            <a:off x="6675120" y="128016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التقدم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1"/>
          <p:cNvSpPr/>
          <p:nvPr/>
        </p:nvSpPr>
        <p:spPr>
          <a:xfrm>
            <a:off x="6675120" y="1600200"/>
            <a:ext cx="1416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إكمال خطوة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→ </a:t>
            </a: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تحديث الكفاءة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2"/>
          <p:cNvSpPr/>
          <p:nvPr/>
        </p:nvSpPr>
        <p:spPr>
          <a:xfrm>
            <a:off x="457200" y="25146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التوليد حاسم (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deterministic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): لا يتأثر بالبيانات المُدخَلة، ويُحدّث فقط عند تغيّر المهارات أو الفئات.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3"/>
          <p:cNvSpPr/>
          <p:nvPr/>
        </p:nvSpPr>
        <p:spPr>
          <a:xfrm>
            <a:off x="457200" y="295344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يحترم تسلسل المتطلبات المسبقة: لا تظهر مهارة قبل اكتمال متطلباتها (خوارزمية 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Kahn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4"/>
          <p:cNvSpPr/>
          <p:nvPr/>
        </p:nvSpPr>
        <p:spPr>
          <a:xfrm>
            <a:off x="457200" y="339228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يمنع التكرار: المهارات المتقنة أو موجودة بالفعل في المسار تُستبعد (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409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5"/>
          <p:cNvSpPr/>
          <p:nvPr/>
        </p:nvSpPr>
        <p:spPr>
          <a:xfrm>
            <a:off x="457200" y="383148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يدعم التوليد حسب المهارة: مسار فردي لمهارة واحدة مع متطلباتها (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per-skill path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8321040" y="320040"/>
            <a:ext cx="411120" cy="41112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8321040" y="338400"/>
            <a:ext cx="411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٧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"/>
          <p:cNvSpPr/>
          <p:nvPr/>
        </p:nvSpPr>
        <p:spPr>
          <a:xfrm>
            <a:off x="457200" y="32004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الذكاء الاصطناعي</a:t>
            </a:r>
            <a:r>
              <a:rPr lang="en-US" sz="28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 — </a:t>
            </a:r>
            <a:r>
              <a:rPr lang="en-US" sz="28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SS-AI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3"/>
          <p:cNvSpPr/>
          <p:nvPr/>
        </p:nvSpPr>
        <p:spPr>
          <a:xfrm>
            <a:off x="457200" y="1051560"/>
            <a:ext cx="8229240" cy="1005480"/>
          </a:xfrm>
          <a:prstGeom prst="roundRect">
            <a:avLst>
              <a:gd name="adj" fmla="val 7273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4"/>
          <p:cNvSpPr/>
          <p:nvPr/>
        </p:nvSpPr>
        <p:spPr>
          <a:xfrm>
            <a:off x="640080" y="11156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استنتاج</a:t>
            </a:r>
            <a:r>
              <a:rPr lang="en-US" sz="18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8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LLM </a:t>
            </a:r>
            <a:r>
              <a:rPr lang="hi-IN" sz="18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محلّي محصور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5"/>
          <p:cNvSpPr/>
          <p:nvPr/>
        </p:nvSpPr>
        <p:spPr>
          <a:xfrm>
            <a:off x="640080" y="1463040"/>
            <a:ext cx="7863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يُستخدَم</a:t>
            </a:r>
            <a:r>
              <a:rPr lang="en-US" sz="12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2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Llama-3.2-3B </a:t>
            </a:r>
            <a:r>
              <a:rPr lang="hi-IN" sz="12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محليًا لتوليد اختبارات وشروح ومساعدات تفاعلية — مع سيطرة كاملة على الخرج وحجب</a:t>
            </a:r>
            <a:r>
              <a:rPr lang="en-US" sz="12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ernet.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6"/>
          <p:cNvSpPr/>
          <p:nvPr/>
        </p:nvSpPr>
        <p:spPr>
          <a:xfrm>
            <a:off x="457200" y="2377440"/>
            <a:ext cx="2559960" cy="1371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7"/>
          <p:cNvSpPr/>
          <p:nvPr/>
        </p:nvSpPr>
        <p:spPr>
          <a:xfrm>
            <a:off x="594360" y="24505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اختبارات ذكية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8"/>
          <p:cNvSpPr/>
          <p:nvPr/>
        </p:nvSpPr>
        <p:spPr>
          <a:xfrm>
            <a:off x="594360" y="2743200"/>
            <a:ext cx="2285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توليد أسئلة متعددة الخيارات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بناءً على محتوى المهارة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(AI quizzes)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9"/>
          <p:cNvSpPr/>
          <p:nvPr/>
        </p:nvSpPr>
        <p:spPr>
          <a:xfrm>
            <a:off x="3154680" y="2377440"/>
            <a:ext cx="2559960" cy="1371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0"/>
          <p:cNvSpPr/>
          <p:nvPr/>
        </p:nvSpPr>
        <p:spPr>
          <a:xfrm>
            <a:off x="3291840" y="24505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شرح المفاهيم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1"/>
          <p:cNvSpPr/>
          <p:nvPr/>
        </p:nvSpPr>
        <p:spPr>
          <a:xfrm>
            <a:off x="3291840" y="2743200"/>
            <a:ext cx="2285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شروح تفاعلية لكل مهارة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مع أمثلة عملية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(AI explanations)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2"/>
          <p:cNvSpPr/>
          <p:nvPr/>
        </p:nvSpPr>
        <p:spPr>
          <a:xfrm>
            <a:off x="5852160" y="2377440"/>
            <a:ext cx="2559960" cy="1371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3"/>
          <p:cNvSpPr/>
          <p:nvPr/>
        </p:nvSpPr>
        <p:spPr>
          <a:xfrm>
            <a:off x="5989320" y="24505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مراجعة الكفاءة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4"/>
          <p:cNvSpPr/>
          <p:nvPr/>
        </p:nvSpPr>
        <p:spPr>
          <a:xfrm>
            <a:off x="5989320" y="2743200"/>
            <a:ext cx="2285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تعديل ±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1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عند ثقة عالية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فقط (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0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–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5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)، مع تدقيق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(AI proficiency review)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5"/>
          <p:cNvSpPr/>
          <p:nvPr/>
        </p:nvSpPr>
        <p:spPr>
          <a:xfrm>
            <a:off x="457200" y="3977640"/>
            <a:ext cx="8229240" cy="776880"/>
          </a:xfrm>
          <a:prstGeom prst="roundRect">
            <a:avLst>
              <a:gd name="adj" fmla="val 9412"/>
            </a:avLst>
          </a:prstGeom>
          <a:solidFill>
            <a:srgbClr val="FBF6E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6"/>
          <p:cNvSpPr/>
          <p:nvPr/>
        </p:nvSpPr>
        <p:spPr>
          <a:xfrm>
            <a:off x="640080" y="402336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8A6520"/>
                </a:solidFill>
                <a:effectLst/>
                <a:uFillTx/>
                <a:latin typeface="Tajawal"/>
                <a:cs typeface="Tajawal"/>
              </a:rPr>
              <a:t>قيود صارمة</a:t>
            </a:r>
            <a:r>
              <a:rPr lang="en-US" sz="1300" b="1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300" b="1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(ADR-015):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7"/>
          <p:cNvSpPr/>
          <p:nvPr/>
        </p:nvSpPr>
        <p:spPr>
          <a:xfrm>
            <a:off x="640080" y="4297680"/>
            <a:ext cx="7863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AI_ENABLED=false 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افتراضيًا — غير نشط إلا عند التفعيل.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لا يتجاوز 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AI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التقييمات الحتمية: يُسجّل فقط في 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activity_log + SSE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كل استخدام مُسجّل في سجل النشاط مع بصمة كاملة.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0"/>
          <p:cNvSpPr/>
          <p:nvPr/>
        </p:nvSpPr>
        <p:spPr>
          <a:xfrm>
            <a:off x="8321040" y="320040"/>
            <a:ext cx="411120" cy="41112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"/>
          <p:cNvSpPr/>
          <p:nvPr/>
        </p:nvSpPr>
        <p:spPr>
          <a:xfrm>
            <a:off x="8321040" y="338400"/>
            <a:ext cx="411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٨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"/>
          <p:cNvSpPr/>
          <p:nvPr/>
        </p:nvSpPr>
        <p:spPr>
          <a:xfrm>
            <a:off x="457200" y="32004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4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نموذج البيانات — الرسم التوضيحي الشامل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Image 0" descr="/tmp/opencode/skillsynth/erd_raw.png"/>
          <p:cNvPicPr/>
          <p:nvPr/>
        </p:nvPicPr>
        <p:blipFill>
          <a:blip r:embed="rId1"/>
          <a:stretch/>
        </p:blipFill>
        <p:spPr>
          <a:xfrm rot="21579600">
            <a:off x="1840680" y="897840"/>
            <a:ext cx="5577480" cy="411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0"/>
          <p:cNvSpPr/>
          <p:nvPr/>
        </p:nvSpPr>
        <p:spPr>
          <a:xfrm>
            <a:off x="8321040" y="320040"/>
            <a:ext cx="411120" cy="41112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"/>
          <p:cNvSpPr/>
          <p:nvPr/>
        </p:nvSpPr>
        <p:spPr>
          <a:xfrm>
            <a:off x="8321040" y="338400"/>
            <a:ext cx="411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٩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"/>
          <p:cNvSpPr/>
          <p:nvPr/>
        </p:nvSpPr>
        <p:spPr>
          <a:xfrm>
            <a:off x="457200" y="32004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6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سياق الفهرس</a:t>
            </a:r>
            <a:r>
              <a:rPr lang="en-US" sz="26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26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(Catalog)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3"/>
          <p:cNvSpPr/>
          <p:nvPr/>
        </p:nvSpPr>
        <p:spPr>
          <a:xfrm>
            <a:off x="6583680" y="1051560"/>
            <a:ext cx="210276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4"/>
          <p:cNvSpPr/>
          <p:nvPr/>
        </p:nvSpPr>
        <p:spPr>
          <a:xfrm>
            <a:off x="6583680" y="109728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categories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5"/>
          <p:cNvSpPr/>
          <p:nvPr/>
        </p:nvSpPr>
        <p:spPr>
          <a:xfrm>
            <a:off x="6583680" y="1371600"/>
            <a:ext cx="2102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name UK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parent_id FK (self-ref)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description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6"/>
          <p:cNvSpPr/>
          <p:nvPr/>
        </p:nvSpPr>
        <p:spPr>
          <a:xfrm>
            <a:off x="3840480" y="1051560"/>
            <a:ext cx="210276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7"/>
          <p:cNvSpPr/>
          <p:nvPr/>
        </p:nvSpPr>
        <p:spPr>
          <a:xfrm>
            <a:off x="3840480" y="109728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skills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8"/>
          <p:cNvSpPr/>
          <p:nvPr/>
        </p:nvSpPr>
        <p:spPr>
          <a:xfrm>
            <a:off x="3840480" y="1371600"/>
            <a:ext cx="2102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name UK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category_id FK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difficulty · hours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icon · color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9"/>
          <p:cNvSpPr/>
          <p:nvPr/>
        </p:nvSpPr>
        <p:spPr>
          <a:xfrm>
            <a:off x="1097280" y="1051560"/>
            <a:ext cx="210276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0"/>
          <p:cNvSpPr/>
          <p:nvPr/>
        </p:nvSpPr>
        <p:spPr>
          <a:xfrm>
            <a:off x="1097280" y="109728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skill_prereqs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1"/>
          <p:cNvSpPr/>
          <p:nvPr/>
        </p:nvSpPr>
        <p:spPr>
          <a:xfrm>
            <a:off x="1097280" y="1371600"/>
            <a:ext cx="2102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skill_id PK,FK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prerequisite_id PK,FK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(junction table)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2"/>
          <p:cNvSpPr/>
          <p:nvPr/>
        </p:nvSpPr>
        <p:spPr>
          <a:xfrm>
            <a:off x="6583680" y="2514600"/>
            <a:ext cx="210276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6583680" y="256032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job_roles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4"/>
          <p:cNvSpPr/>
          <p:nvPr/>
        </p:nvSpPr>
        <p:spPr>
          <a:xfrm>
            <a:off x="6583680" y="2834640"/>
            <a:ext cx="2102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title UK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career_field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description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5"/>
          <p:cNvSpPr/>
          <p:nvPr/>
        </p:nvSpPr>
        <p:spPr>
          <a:xfrm>
            <a:off x="3840480" y="2514600"/>
            <a:ext cx="210276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6"/>
          <p:cNvSpPr/>
          <p:nvPr/>
        </p:nvSpPr>
        <p:spPr>
          <a:xfrm>
            <a:off x="3840480" y="256032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job_role_skills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7"/>
          <p:cNvSpPr/>
          <p:nvPr/>
        </p:nvSpPr>
        <p:spPr>
          <a:xfrm>
            <a:off x="3840480" y="2834640"/>
            <a:ext cx="2102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job_role_id PK,FK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skill_id PK,FK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(junction table)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8"/>
          <p:cNvSpPr/>
          <p:nvPr/>
        </p:nvSpPr>
        <p:spPr>
          <a:xfrm>
            <a:off x="1097280" y="2514600"/>
            <a:ext cx="210276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9"/>
          <p:cNvSpPr/>
          <p:nvPr/>
        </p:nvSpPr>
        <p:spPr>
          <a:xfrm>
            <a:off x="1097280" y="256032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resources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0"/>
          <p:cNvSpPr/>
          <p:nvPr/>
        </p:nvSpPr>
        <p:spPr>
          <a:xfrm>
            <a:off x="1097280" y="2834640"/>
            <a:ext cx="2102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title · url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type · language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is_free · is_official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skill_id FK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1"/>
          <p:cNvSpPr/>
          <p:nvPr/>
        </p:nvSpPr>
        <p:spPr>
          <a:xfrm>
            <a:off x="5943600" y="146304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1—*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2"/>
          <p:cNvSpPr/>
          <p:nvPr/>
        </p:nvSpPr>
        <p:spPr>
          <a:xfrm>
            <a:off x="3200400" y="146304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1—*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3"/>
          <p:cNvSpPr/>
          <p:nvPr/>
        </p:nvSpPr>
        <p:spPr>
          <a:xfrm>
            <a:off x="3200400" y="292608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M:N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4"/>
          <p:cNvSpPr/>
          <p:nvPr/>
        </p:nvSpPr>
        <p:spPr>
          <a:xfrm>
            <a:off x="5943600" y="292608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1—*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25"/>
          <p:cNvSpPr/>
          <p:nvPr/>
        </p:nvSpPr>
        <p:spPr>
          <a:xfrm>
            <a:off x="457200" y="4023360"/>
            <a:ext cx="8229240" cy="776880"/>
          </a:xfrm>
          <a:prstGeom prst="roundRect">
            <a:avLst>
              <a:gd name="adj" fmla="val 9412"/>
            </a:avLst>
          </a:prstGeom>
          <a:solidFill>
            <a:srgbClr val="FBF6E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6"/>
          <p:cNvSpPr/>
          <p:nvPr/>
        </p:nvSpPr>
        <p:spPr>
          <a:xfrm>
            <a:off x="640080" y="4069080"/>
            <a:ext cx="7863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8A6520"/>
                </a:solidFill>
                <a:effectLst/>
                <a:uFillTx/>
                <a:latin typeface="Tajawal"/>
                <a:cs typeface="Tajawal"/>
              </a:rPr>
              <a:t>قواعد سياق الفهرس: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7"/>
          <p:cNvSpPr/>
          <p:nvPr/>
        </p:nvSpPr>
        <p:spPr>
          <a:xfrm>
            <a:off x="640080" y="42976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الفئات تتسلسل ذاتيًا (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parent_id → SET NULL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عند الحذف).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skill_prerequisites: CASCADE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عند الحذف — يمنع الدوران (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400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الموارد 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skill_id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اختياري (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SET NULL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0"/>
          <p:cNvSpPr/>
          <p:nvPr/>
        </p:nvSpPr>
        <p:spPr>
          <a:xfrm>
            <a:off x="8321040" y="320040"/>
            <a:ext cx="411120" cy="41112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"/>
          <p:cNvSpPr/>
          <p:nvPr/>
        </p:nvSpPr>
        <p:spPr>
          <a:xfrm>
            <a:off x="8321040" y="338400"/>
            <a:ext cx="411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١٠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"/>
          <p:cNvSpPr/>
          <p:nvPr/>
        </p:nvSpPr>
        <p:spPr>
          <a:xfrm>
            <a:off x="457200" y="32004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6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سياق التقييم</a:t>
            </a:r>
            <a:r>
              <a:rPr lang="en-US" sz="26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26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(Assessment)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"/>
          <p:cNvSpPr/>
          <p:nvPr/>
        </p:nvSpPr>
        <p:spPr>
          <a:xfrm>
            <a:off x="4754880" y="1051560"/>
            <a:ext cx="2559960" cy="1371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4"/>
          <p:cNvSpPr/>
          <p:nvPr/>
        </p:nvSpPr>
        <p:spPr>
          <a:xfrm>
            <a:off x="4754880" y="10972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assessments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5"/>
          <p:cNvSpPr/>
          <p:nvPr/>
        </p:nvSpPr>
        <p:spPr>
          <a:xfrm>
            <a:off x="4754880" y="1371600"/>
            <a:ext cx="25599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skill_id FK (SET NULL)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title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pass_score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created_at · updated_at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6"/>
          <p:cNvSpPr/>
          <p:nvPr/>
        </p:nvSpPr>
        <p:spPr>
          <a:xfrm>
            <a:off x="731520" y="1051560"/>
            <a:ext cx="2559960" cy="1371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7"/>
          <p:cNvSpPr/>
          <p:nvPr/>
        </p:nvSpPr>
        <p:spPr>
          <a:xfrm>
            <a:off x="731520" y="10972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assessment_questions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8"/>
          <p:cNvSpPr/>
          <p:nvPr/>
        </p:nvSpPr>
        <p:spPr>
          <a:xfrm>
            <a:off x="731520" y="1371600"/>
            <a:ext cx="25599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assessment_id FK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position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prompt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options (JSON)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correct_index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9"/>
          <p:cNvSpPr/>
          <p:nvPr/>
        </p:nvSpPr>
        <p:spPr>
          <a:xfrm>
            <a:off x="731520" y="2606040"/>
            <a:ext cx="2559960" cy="1371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0"/>
          <p:cNvSpPr/>
          <p:nvPr/>
        </p:nvSpPr>
        <p:spPr>
          <a:xfrm>
            <a:off x="731520" y="265176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assessment_results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1"/>
          <p:cNvSpPr/>
          <p:nvPr/>
        </p:nvSpPr>
        <p:spPr>
          <a:xfrm>
            <a:off x="731520" y="2926080"/>
            <a:ext cx="25599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user_id FK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assessment_id FK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score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passed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completed_at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2"/>
          <p:cNvSpPr/>
          <p:nvPr/>
        </p:nvSpPr>
        <p:spPr>
          <a:xfrm>
            <a:off x="4754880" y="2606040"/>
            <a:ext cx="2559960" cy="1371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3"/>
          <p:cNvSpPr/>
          <p:nvPr/>
        </p:nvSpPr>
        <p:spPr>
          <a:xfrm>
            <a:off x="4754880" y="265176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user_skills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4"/>
          <p:cNvSpPr/>
          <p:nvPr/>
        </p:nvSpPr>
        <p:spPr>
          <a:xfrm>
            <a:off x="4754880" y="2926080"/>
            <a:ext cx="25599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user_id PK,FK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skill_id PK,FK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proficiency_level (0–5)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last_assessed_at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5"/>
          <p:cNvSpPr/>
          <p:nvPr/>
        </p:nvSpPr>
        <p:spPr>
          <a:xfrm>
            <a:off x="3291840" y="1463040"/>
            <a:ext cx="731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1 — *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6"/>
          <p:cNvSpPr/>
          <p:nvPr/>
        </p:nvSpPr>
        <p:spPr>
          <a:xfrm>
            <a:off x="3291840" y="3017520"/>
            <a:ext cx="731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1 — *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7"/>
          <p:cNvSpPr/>
          <p:nvPr/>
        </p:nvSpPr>
        <p:spPr>
          <a:xfrm>
            <a:off x="3291840" y="214884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scoring → writes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user_skills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8"/>
          <p:cNvSpPr/>
          <p:nvPr/>
        </p:nvSpPr>
        <p:spPr>
          <a:xfrm>
            <a:off x="457200" y="4206240"/>
            <a:ext cx="8229240" cy="685440"/>
          </a:xfrm>
          <a:prstGeom prst="roundRect">
            <a:avLst>
              <a:gd name="adj" fmla="val 10667"/>
            </a:avLst>
          </a:prstGeom>
          <a:solidFill>
            <a:srgbClr val="FBF6E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9"/>
          <p:cNvSpPr/>
          <p:nvPr/>
        </p:nvSpPr>
        <p:spPr>
          <a:xfrm>
            <a:off x="640080" y="425196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 التقييم: </a:t>
            </a:r>
            <a:r>
              <a:rPr lang="en-US" sz="1300" b="1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proficiency = round(correct / total × 5)</a:t>
            </a:r>
            <a:r>
              <a:rPr lang="en-US" sz="1300" b="1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 مقيّدة بين [</a:t>
            </a:r>
            <a:r>
              <a:rPr lang="en-US" sz="1300" b="1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0</a:t>
            </a:r>
            <a:r>
              <a:rPr lang="en-US" sz="1300" b="1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, </a:t>
            </a:r>
            <a:r>
              <a:rPr lang="en-US" sz="1300" b="1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5</a:t>
            </a:r>
            <a:r>
              <a:rPr lang="en-US" sz="1300" b="1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0"/>
          <p:cNvSpPr/>
          <p:nvPr/>
        </p:nvSpPr>
        <p:spPr>
          <a:xfrm>
            <a:off x="640080" y="45262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Skills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غير مُجاب عنها تحتفظ بمستواها السابق.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0"/>
          <p:cNvSpPr/>
          <p:nvPr/>
        </p:nvSpPr>
        <p:spPr>
          <a:xfrm>
            <a:off x="8321040" y="320040"/>
            <a:ext cx="411120" cy="41112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8321040" y="338400"/>
            <a:ext cx="411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١١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"/>
          <p:cNvSpPr/>
          <p:nvPr/>
        </p:nvSpPr>
        <p:spPr>
          <a:xfrm>
            <a:off x="457200" y="32004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6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سياق التعلّم</a:t>
            </a:r>
            <a:r>
              <a:rPr lang="en-US" sz="26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26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(Learning)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3"/>
          <p:cNvSpPr/>
          <p:nvPr/>
        </p:nvSpPr>
        <p:spPr>
          <a:xfrm>
            <a:off x="4754880" y="1051560"/>
            <a:ext cx="255996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4"/>
          <p:cNvSpPr/>
          <p:nvPr/>
        </p:nvSpPr>
        <p:spPr>
          <a:xfrm>
            <a:off x="4754880" y="10972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paths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5"/>
          <p:cNvSpPr/>
          <p:nvPr/>
        </p:nvSpPr>
        <p:spPr>
          <a:xfrm>
            <a:off x="4754880" y="1371600"/>
            <a:ext cx="2559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user_id FK (CASCADE)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title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target_role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status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total_estimated_hours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created_at · updated_at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deleted_at (soft delete)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6"/>
          <p:cNvSpPr/>
          <p:nvPr/>
        </p:nvSpPr>
        <p:spPr>
          <a:xfrm>
            <a:off x="731520" y="1051560"/>
            <a:ext cx="255996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7"/>
          <p:cNvSpPr/>
          <p:nvPr/>
        </p:nvSpPr>
        <p:spPr>
          <a:xfrm>
            <a:off x="731520" y="10972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path_steps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8"/>
          <p:cNvSpPr/>
          <p:nvPr/>
        </p:nvSpPr>
        <p:spPr>
          <a:xfrm>
            <a:off x="731520" y="1371600"/>
            <a:ext cx="2559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path_id FK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skill_id FK (SET NULL)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position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title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description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estimated_hours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resource_ids (JSON)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assessment_ids (JSON)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9"/>
          <p:cNvSpPr/>
          <p:nvPr/>
        </p:nvSpPr>
        <p:spPr>
          <a:xfrm>
            <a:off x="731520" y="2697480"/>
            <a:ext cx="255996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0"/>
          <p:cNvSpPr/>
          <p:nvPr/>
        </p:nvSpPr>
        <p:spPr>
          <a:xfrm>
            <a:off x="731520" y="27432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step_progress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1"/>
          <p:cNvSpPr/>
          <p:nvPr/>
        </p:nvSpPr>
        <p:spPr>
          <a:xfrm>
            <a:off x="731520" y="3017520"/>
            <a:ext cx="2559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user_id PK,FK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step_id PK,FK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completed_at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score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2"/>
          <p:cNvSpPr/>
          <p:nvPr/>
        </p:nvSpPr>
        <p:spPr>
          <a:xfrm>
            <a:off x="3291840" y="1463040"/>
            <a:ext cx="731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1 — *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3"/>
          <p:cNvSpPr/>
          <p:nvPr/>
        </p:nvSpPr>
        <p:spPr>
          <a:xfrm>
            <a:off x="3291840" y="3108960"/>
            <a:ext cx="731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1 — *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4"/>
          <p:cNvSpPr/>
          <p:nvPr/>
        </p:nvSpPr>
        <p:spPr>
          <a:xfrm>
            <a:off x="4754880" y="2834640"/>
            <a:ext cx="2559960" cy="1371240"/>
          </a:xfrm>
          <a:prstGeom prst="roundRect">
            <a:avLst>
              <a:gd name="adj" fmla="val 5333"/>
            </a:avLst>
          </a:prstGeom>
          <a:solidFill>
            <a:srgbClr val="FBF6E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5"/>
          <p:cNvSpPr/>
          <p:nvPr/>
        </p:nvSpPr>
        <p:spPr>
          <a:xfrm>
            <a:off x="4846320" y="288036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8A6520"/>
                </a:solidFill>
                <a:effectLst/>
                <a:uFillTx/>
                <a:latin typeface="Tajawal"/>
                <a:cs typeface="Tajawal"/>
              </a:rPr>
              <a:t>قواعد التعلّم</a:t>
            </a:r>
            <a:r>
              <a:rPr lang="en-US" sz="1200" b="1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6"/>
          <p:cNvSpPr/>
          <p:nvPr/>
        </p:nvSpPr>
        <p:spPr>
          <a:xfrm>
            <a:off x="4846320" y="3154680"/>
            <a:ext cx="2377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 anchorCtr="1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Cascade 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عند حذف المسار.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خطوة تُكتمل بـ 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completed_at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التراجع يحذف التقدم.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 حسب المستخدم فقط.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0"/>
          <p:cNvSpPr/>
          <p:nvPr/>
        </p:nvSpPr>
        <p:spPr>
          <a:xfrm>
            <a:off x="8321040" y="320040"/>
            <a:ext cx="411120" cy="41112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"/>
          <p:cNvSpPr/>
          <p:nvPr/>
        </p:nvSpPr>
        <p:spPr>
          <a:xfrm>
            <a:off x="8321040" y="338400"/>
            <a:ext cx="411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١٢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"/>
          <p:cNvSpPr/>
          <p:nvPr/>
        </p:nvSpPr>
        <p:spPr>
          <a:xfrm>
            <a:off x="457200" y="32004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6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سياق التفاعل</a:t>
            </a:r>
            <a:r>
              <a:rPr lang="en-US" sz="26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26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(Engagement)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3"/>
          <p:cNvSpPr/>
          <p:nvPr/>
        </p:nvSpPr>
        <p:spPr>
          <a:xfrm>
            <a:off x="1371600" y="1097280"/>
            <a:ext cx="6400440" cy="20113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4"/>
          <p:cNvSpPr/>
          <p:nvPr/>
        </p:nvSpPr>
        <p:spPr>
          <a:xfrm>
            <a:off x="1371600" y="118872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activity_log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5"/>
          <p:cNvSpPr/>
          <p:nvPr/>
        </p:nvSpPr>
        <p:spPr>
          <a:xfrm>
            <a:off x="1554480" y="1554480"/>
            <a:ext cx="6034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id (PK)  ·  user_id (FK → SET NULL)  ·  category  ·  action  ·  entity_type  ·  entity_id  ·  data (JSON)  ·  ip_address  ·  user_agent  ·  created_at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6"/>
          <p:cNvSpPr/>
          <p:nvPr/>
        </p:nvSpPr>
        <p:spPr>
          <a:xfrm>
            <a:off x="1443600" y="2194560"/>
            <a:ext cx="1416960" cy="73116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7"/>
          <p:cNvSpPr/>
          <p:nvPr/>
        </p:nvSpPr>
        <p:spPr>
          <a:xfrm>
            <a:off x="1443600" y="224028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auth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8"/>
          <p:cNvSpPr/>
          <p:nvPr/>
        </p:nvSpPr>
        <p:spPr>
          <a:xfrm>
            <a:off x="1489320" y="2468880"/>
            <a:ext cx="1325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8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تسجيل الدخول، الخروج، تغيير كلمة المرور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9"/>
          <p:cNvSpPr/>
          <p:nvPr/>
        </p:nvSpPr>
        <p:spPr>
          <a:xfrm>
            <a:off x="2952360" y="2194560"/>
            <a:ext cx="1416960" cy="73116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0"/>
          <p:cNvSpPr/>
          <p:nvPr/>
        </p:nvSpPr>
        <p:spPr>
          <a:xfrm>
            <a:off x="2952360" y="224028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audit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1"/>
          <p:cNvSpPr/>
          <p:nvPr/>
        </p:nvSpPr>
        <p:spPr>
          <a:xfrm>
            <a:off x="2998080" y="2468880"/>
            <a:ext cx="1325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8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تعديل أو حذف كيانات</a:t>
            </a:r>
            <a:r>
              <a:rPr lang="en-US" sz="8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8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(admin CRUD)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12"/>
          <p:cNvSpPr/>
          <p:nvPr/>
        </p:nvSpPr>
        <p:spPr>
          <a:xfrm>
            <a:off x="4461120" y="2194560"/>
            <a:ext cx="1416960" cy="73116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3"/>
          <p:cNvSpPr/>
          <p:nvPr/>
        </p:nvSpPr>
        <p:spPr>
          <a:xfrm>
            <a:off x="4497120" y="224028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learning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4"/>
          <p:cNvSpPr/>
          <p:nvPr/>
        </p:nvSpPr>
        <p:spPr>
          <a:xfrm>
            <a:off x="4506840" y="2468880"/>
            <a:ext cx="1325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8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اكتمال خطوة، توليد مسار، اختبار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5"/>
          <p:cNvSpPr/>
          <p:nvPr/>
        </p:nvSpPr>
        <p:spPr>
          <a:xfrm>
            <a:off x="6005880" y="2194560"/>
            <a:ext cx="1416960" cy="73116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6"/>
          <p:cNvSpPr/>
          <p:nvPr/>
        </p:nvSpPr>
        <p:spPr>
          <a:xfrm>
            <a:off x="6005880" y="224028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system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7"/>
          <p:cNvSpPr/>
          <p:nvPr/>
        </p:nvSpPr>
        <p:spPr>
          <a:xfrm>
            <a:off x="6051600" y="2468880"/>
            <a:ext cx="1325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8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نسخ احتياطي، صحة النظام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8"/>
          <p:cNvSpPr/>
          <p:nvPr/>
        </p:nvSpPr>
        <p:spPr>
          <a:xfrm>
            <a:off x="457200" y="3291840"/>
            <a:ext cx="8229240" cy="1554120"/>
          </a:xfrm>
          <a:prstGeom prst="roundRect">
            <a:avLst>
              <a:gd name="adj" fmla="val 4706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9"/>
          <p:cNvSpPr/>
          <p:nvPr/>
        </p:nvSpPr>
        <p:spPr>
          <a:xfrm>
            <a:off x="640080" y="333756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الخصائص التفصيلية لسجل النشاط</a:t>
            </a: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0"/>
          <p:cNvSpPr/>
          <p:nvPr/>
        </p:nvSpPr>
        <p:spPr>
          <a:xfrm>
            <a:off x="640080" y="3611880"/>
            <a:ext cx="78634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 سجل فقط (</a:t>
            </a: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append-only</a:t>
            </a: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): لا تعديل ولا حذف — لضمان سلامة التدقيق.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 يحتوي على بصمة كاملة: معرّف المستخدم، الإجراء، الكيان المتأثر، البيانات الوصفية، العنوان </a:t>
            </a: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IP</a:t>
            </a:r>
            <a:r>
              <a:rPr lang="hi-IN" sz="11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، ووكيل المستخدم.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 يُستخدم في: التدقيق (</a:t>
            </a: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audit</a:t>
            </a: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)، تحليلات التعلّم، تدقيق </a:t>
            </a: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AI proficiency review</a:t>
            </a: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 فهرس مُحسّن على </a:t>
            </a: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user_id + created_at</a:t>
            </a: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 لتسريع الاستعلامات.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0"/>
          <p:cNvSpPr/>
          <p:nvPr/>
        </p:nvSpPr>
        <p:spPr>
          <a:xfrm>
            <a:off x="8321040" y="320040"/>
            <a:ext cx="411120" cy="41112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"/>
          <p:cNvSpPr/>
          <p:nvPr/>
        </p:nvSpPr>
        <p:spPr>
          <a:xfrm>
            <a:off x="8321040" y="338400"/>
            <a:ext cx="411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١٣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"/>
          <p:cNvSpPr/>
          <p:nvPr/>
        </p:nvSpPr>
        <p:spPr>
          <a:xfrm>
            <a:off x="457200" y="32004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6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حالات الاستخدام — المتعلم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3"/>
          <p:cNvSpPr/>
          <p:nvPr/>
        </p:nvSpPr>
        <p:spPr>
          <a:xfrm>
            <a:off x="457200" y="1188720"/>
            <a:ext cx="1645560" cy="3200040"/>
          </a:xfrm>
          <a:prstGeom prst="roundRect">
            <a:avLst>
              <a:gd name="adj" fmla="val 4444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4"/>
          <p:cNvSpPr/>
          <p:nvPr/>
        </p:nvSpPr>
        <p:spPr>
          <a:xfrm>
            <a:off x="457200" y="128016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المتعلم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ajawal"/>
                <a:ea typeface="Tajawal"/>
              </a:rPr>
              <a:t>(UC)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5"/>
          <p:cNvSpPr/>
          <p:nvPr/>
        </p:nvSpPr>
        <p:spPr>
          <a:xfrm>
            <a:off x="457200" y="182880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CFC3AE"/>
                </a:solidFill>
                <a:effectLst/>
                <a:uFillTx/>
                <a:latin typeface="Tajawal"/>
                <a:cs typeface="Tajawal"/>
              </a:rPr>
              <a:t>طالب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6"/>
          <p:cNvSpPr/>
          <p:nvPr/>
        </p:nvSpPr>
        <p:spPr>
          <a:xfrm>
            <a:off x="2743200" y="1097280"/>
            <a:ext cx="228564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7"/>
          <p:cNvSpPr/>
          <p:nvPr/>
        </p:nvSpPr>
        <p:spPr>
          <a:xfrm>
            <a:off x="2834640" y="114300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UC1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8"/>
          <p:cNvSpPr/>
          <p:nvPr/>
        </p:nvSpPr>
        <p:spPr>
          <a:xfrm>
            <a:off x="3337560" y="114300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تسجيل الدخول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9"/>
          <p:cNvSpPr/>
          <p:nvPr/>
        </p:nvSpPr>
        <p:spPr>
          <a:xfrm>
            <a:off x="2834640" y="141732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إنشاء حساب أو تسجيل دخول بكلمة المرور (</a:t>
            </a: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JWT</a:t>
            </a: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+ قفل بعد </a:t>
            </a: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5</a:t>
            </a: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محاولات)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0"/>
          <p:cNvSpPr/>
          <p:nvPr/>
        </p:nvSpPr>
        <p:spPr>
          <a:xfrm>
            <a:off x="5303520" y="1097280"/>
            <a:ext cx="228564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1"/>
          <p:cNvSpPr/>
          <p:nvPr/>
        </p:nvSpPr>
        <p:spPr>
          <a:xfrm>
            <a:off x="5394960" y="114300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UC2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2"/>
          <p:cNvSpPr/>
          <p:nvPr/>
        </p:nvSpPr>
        <p:spPr>
          <a:xfrm>
            <a:off x="5897880" y="114300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إكمال المساعد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3"/>
          <p:cNvSpPr/>
          <p:nvPr/>
        </p:nvSpPr>
        <p:spPr>
          <a:xfrm>
            <a:off x="5394960" y="141732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اختيار دور مهني + تفضيلات → توليد مسار شخصي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14"/>
          <p:cNvSpPr/>
          <p:nvPr/>
        </p:nvSpPr>
        <p:spPr>
          <a:xfrm>
            <a:off x="2743200" y="2057400"/>
            <a:ext cx="228564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5"/>
          <p:cNvSpPr/>
          <p:nvPr/>
        </p:nvSpPr>
        <p:spPr>
          <a:xfrm>
            <a:off x="2834640" y="21031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UC3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6"/>
          <p:cNvSpPr/>
          <p:nvPr/>
        </p:nvSpPr>
        <p:spPr>
          <a:xfrm>
            <a:off x="3337560" y="210312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إجراء التقييم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7"/>
          <p:cNvSpPr/>
          <p:nvPr/>
        </p:nvSpPr>
        <p:spPr>
          <a:xfrm>
            <a:off x="2834640" y="237744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أداء اختبار مهارة أو دور → نتيجة + تحديث الكفاءة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8"/>
          <p:cNvSpPr/>
          <p:nvPr/>
        </p:nvSpPr>
        <p:spPr>
          <a:xfrm>
            <a:off x="5303520" y="2057400"/>
            <a:ext cx="228564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9"/>
          <p:cNvSpPr/>
          <p:nvPr/>
        </p:nvSpPr>
        <p:spPr>
          <a:xfrm>
            <a:off x="5394960" y="21031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UC4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0"/>
          <p:cNvSpPr/>
          <p:nvPr/>
        </p:nvSpPr>
        <p:spPr>
          <a:xfrm>
            <a:off x="5897880" y="210312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إكمال الخطوة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1"/>
          <p:cNvSpPr/>
          <p:nvPr/>
        </p:nvSpPr>
        <p:spPr>
          <a:xfrm>
            <a:off x="5394960" y="237744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إكمال أو تراجع خطوة في المسار → تحديث التقدم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22"/>
          <p:cNvSpPr/>
          <p:nvPr/>
        </p:nvSpPr>
        <p:spPr>
          <a:xfrm>
            <a:off x="2743200" y="3017520"/>
            <a:ext cx="228564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3"/>
          <p:cNvSpPr/>
          <p:nvPr/>
        </p:nvSpPr>
        <p:spPr>
          <a:xfrm>
            <a:off x="2834640" y="306324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UC5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4"/>
          <p:cNvSpPr/>
          <p:nvPr/>
        </p:nvSpPr>
        <p:spPr>
          <a:xfrm>
            <a:off x="3337560" y="306324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تصفح الكتالوج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5"/>
          <p:cNvSpPr/>
          <p:nvPr/>
        </p:nvSpPr>
        <p:spPr>
          <a:xfrm>
            <a:off x="2834640" y="333756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استكشاف الفئات → المهارات → التفاصيل + توليد مسار فردي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26"/>
          <p:cNvSpPr/>
          <p:nvPr/>
        </p:nvSpPr>
        <p:spPr>
          <a:xfrm>
            <a:off x="5303520" y="3017520"/>
            <a:ext cx="228564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7"/>
          <p:cNvSpPr/>
          <p:nvPr/>
        </p:nvSpPr>
        <p:spPr>
          <a:xfrm>
            <a:off x="5394960" y="306324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UC6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8"/>
          <p:cNvSpPr/>
          <p:nvPr/>
        </p:nvSpPr>
        <p:spPr>
          <a:xfrm>
            <a:off x="5897880" y="306324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متابعة التقدم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29"/>
          <p:cNvSpPr/>
          <p:nvPr/>
        </p:nvSpPr>
        <p:spPr>
          <a:xfrm>
            <a:off x="5394960" y="333756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لوحة التقدم + التحليلات + سجل النشاط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30"/>
          <p:cNvSpPr/>
          <p:nvPr/>
        </p:nvSpPr>
        <p:spPr>
          <a:xfrm>
            <a:off x="2560320" y="1005840"/>
            <a:ext cx="5303160" cy="2880000"/>
          </a:xfrm>
          <a:prstGeom prst="rect">
            <a:avLst/>
          </a:prstGeom>
          <a:noFill/>
          <a:ln w="15240">
            <a:solidFill>
              <a:srgbClr val="8A7B6C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31"/>
          <p:cNvSpPr/>
          <p:nvPr/>
        </p:nvSpPr>
        <p:spPr>
          <a:xfrm>
            <a:off x="4114800" y="7772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8A7B6C"/>
                </a:solidFill>
                <a:effectLst/>
                <a:uFillTx/>
                <a:latin typeface="Tajawal"/>
                <a:cs typeface="Tajawal"/>
              </a:rPr>
              <a:t>نظام </a:t>
            </a:r>
            <a:r>
              <a:rPr lang="en-US" sz="10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SkillSynth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0"/>
          <p:cNvSpPr/>
          <p:nvPr/>
        </p:nvSpPr>
        <p:spPr>
          <a:xfrm>
            <a:off x="8321040" y="320040"/>
            <a:ext cx="411120" cy="41112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"/>
          <p:cNvSpPr/>
          <p:nvPr/>
        </p:nvSpPr>
        <p:spPr>
          <a:xfrm>
            <a:off x="8321040" y="338400"/>
            <a:ext cx="411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١٤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"/>
          <p:cNvSpPr/>
          <p:nvPr/>
        </p:nvSpPr>
        <p:spPr>
          <a:xfrm>
            <a:off x="457200" y="32004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6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حالات الاستخدام — المدير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3"/>
          <p:cNvSpPr/>
          <p:nvPr/>
        </p:nvSpPr>
        <p:spPr>
          <a:xfrm>
            <a:off x="457200" y="1188720"/>
            <a:ext cx="1645560" cy="3200040"/>
          </a:xfrm>
          <a:prstGeom prst="roundRect">
            <a:avLst>
              <a:gd name="adj" fmla="val 4444"/>
            </a:avLst>
          </a:prstGeom>
          <a:solidFill>
            <a:srgbClr val="B5862E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4"/>
          <p:cNvSpPr/>
          <p:nvPr/>
        </p:nvSpPr>
        <p:spPr>
          <a:xfrm>
            <a:off x="457200" y="128016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المدير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ajawal"/>
                <a:ea typeface="Tajawal"/>
              </a:rPr>
              <a:t>(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ajawal"/>
                <a:ea typeface="Tajawal"/>
              </a:rPr>
              <a:t>Admin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5"/>
          <p:cNvSpPr/>
          <p:nvPr/>
        </p:nvSpPr>
        <p:spPr>
          <a:xfrm>
            <a:off x="457200" y="182880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has role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is_admin = 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6"/>
          <p:cNvSpPr/>
          <p:nvPr/>
        </p:nvSpPr>
        <p:spPr>
          <a:xfrm>
            <a:off x="2743200" y="1097280"/>
            <a:ext cx="228564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7"/>
          <p:cNvSpPr/>
          <p:nvPr/>
        </p:nvSpPr>
        <p:spPr>
          <a:xfrm>
            <a:off x="2834640" y="114300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UC7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8"/>
          <p:cNvSpPr/>
          <p:nvPr/>
        </p:nvSpPr>
        <p:spPr>
          <a:xfrm>
            <a:off x="3337560" y="114300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إدارة المستخدمين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9"/>
          <p:cNvSpPr/>
          <p:nvPr/>
        </p:nvSpPr>
        <p:spPr>
          <a:xfrm>
            <a:off x="2834640" y="141732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عرض / تعديل / حذف المستخدمين مع حماية المدير الذاتي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0"/>
          <p:cNvSpPr/>
          <p:nvPr/>
        </p:nvSpPr>
        <p:spPr>
          <a:xfrm>
            <a:off x="5303520" y="1097280"/>
            <a:ext cx="228564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1"/>
          <p:cNvSpPr/>
          <p:nvPr/>
        </p:nvSpPr>
        <p:spPr>
          <a:xfrm>
            <a:off x="5394960" y="114300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UC8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2"/>
          <p:cNvSpPr/>
          <p:nvPr/>
        </p:nvSpPr>
        <p:spPr>
          <a:xfrm>
            <a:off x="5897880" y="114300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إدارة المهارات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3"/>
          <p:cNvSpPr/>
          <p:nvPr/>
        </p:nvSpPr>
        <p:spPr>
          <a:xfrm>
            <a:off x="5394960" y="141732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CRUD</a:t>
            </a: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كامل (</a:t>
            </a: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Create, Update, Read, Delete</a:t>
            </a: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).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4"/>
          <p:cNvSpPr/>
          <p:nvPr/>
        </p:nvSpPr>
        <p:spPr>
          <a:xfrm>
            <a:off x="2743200" y="2057400"/>
            <a:ext cx="228564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5"/>
          <p:cNvSpPr/>
          <p:nvPr/>
        </p:nvSpPr>
        <p:spPr>
          <a:xfrm>
            <a:off x="2834640" y="21031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UC9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6"/>
          <p:cNvSpPr/>
          <p:nvPr/>
        </p:nvSpPr>
        <p:spPr>
          <a:xfrm>
            <a:off x="3200400" y="2103120"/>
            <a:ext cx="1691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إدارة الموارد والاختبارات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7"/>
          <p:cNvSpPr/>
          <p:nvPr/>
        </p:nvSpPr>
        <p:spPr>
          <a:xfrm>
            <a:off x="2834640" y="252144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إضافة / تعديل / حذف الموارد وبنوك الأسئلة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8"/>
          <p:cNvSpPr/>
          <p:nvPr/>
        </p:nvSpPr>
        <p:spPr>
          <a:xfrm>
            <a:off x="5303520" y="2057400"/>
            <a:ext cx="228564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9"/>
          <p:cNvSpPr/>
          <p:nvPr/>
        </p:nvSpPr>
        <p:spPr>
          <a:xfrm>
            <a:off x="5394960" y="21031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UC10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0"/>
          <p:cNvSpPr/>
          <p:nvPr/>
        </p:nvSpPr>
        <p:spPr>
          <a:xfrm>
            <a:off x="5897880" y="210312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الإبلاغ والنسخ الاحتياطي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1"/>
          <p:cNvSpPr/>
          <p:nvPr/>
        </p:nvSpPr>
        <p:spPr>
          <a:xfrm>
            <a:off x="5394960" y="248544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تقارير مجمّعة، نسخ احتياطي، فحص صحة النظام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22"/>
          <p:cNvSpPr/>
          <p:nvPr/>
        </p:nvSpPr>
        <p:spPr>
          <a:xfrm>
            <a:off x="2743200" y="3017520"/>
            <a:ext cx="228564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23"/>
          <p:cNvSpPr/>
          <p:nvPr/>
        </p:nvSpPr>
        <p:spPr>
          <a:xfrm>
            <a:off x="2834640" y="306324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UC11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4"/>
          <p:cNvSpPr/>
          <p:nvPr/>
        </p:nvSpPr>
        <p:spPr>
          <a:xfrm>
            <a:off x="3337560" y="306324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سجل النشاط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5"/>
          <p:cNvSpPr/>
          <p:nvPr/>
        </p:nvSpPr>
        <p:spPr>
          <a:xfrm>
            <a:off x="2834640" y="333756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عرض خلاصة النشاطات: </a:t>
            </a: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auth + audit + learning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26"/>
          <p:cNvSpPr/>
          <p:nvPr/>
        </p:nvSpPr>
        <p:spPr>
          <a:xfrm>
            <a:off x="5303520" y="3017520"/>
            <a:ext cx="228564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7"/>
          <p:cNvSpPr/>
          <p:nvPr/>
        </p:nvSpPr>
        <p:spPr>
          <a:xfrm>
            <a:off x="5394960" y="306324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UC12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8"/>
          <p:cNvSpPr/>
          <p:nvPr/>
        </p:nvSpPr>
        <p:spPr>
          <a:xfrm>
            <a:off x="5897880" y="306324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أعلام الميزات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9"/>
          <p:cNvSpPr/>
          <p:nvPr/>
        </p:nvSpPr>
        <p:spPr>
          <a:xfrm>
            <a:off x="5394960" y="333756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تشغيل / إيقاف الميزات (</a:t>
            </a: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Feature Flags</a:t>
            </a: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) — قراءة فقط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30"/>
          <p:cNvSpPr/>
          <p:nvPr/>
        </p:nvSpPr>
        <p:spPr>
          <a:xfrm>
            <a:off x="2560320" y="1005840"/>
            <a:ext cx="5303160" cy="2880000"/>
          </a:xfrm>
          <a:prstGeom prst="rect">
            <a:avLst/>
          </a:prstGeom>
          <a:noFill/>
          <a:ln w="15240">
            <a:solidFill>
              <a:srgbClr val="8A7B6C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31"/>
          <p:cNvSpPr/>
          <p:nvPr/>
        </p:nvSpPr>
        <p:spPr>
          <a:xfrm>
            <a:off x="4114800" y="7772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8A7B6C"/>
                </a:solidFill>
                <a:effectLst/>
                <a:uFillTx/>
                <a:latin typeface="Tajawal"/>
                <a:cs typeface="Tajawal"/>
              </a:rPr>
              <a:t>نظام </a:t>
            </a:r>
            <a:r>
              <a:rPr lang="en-US" sz="10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SkillSynth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32"/>
          <p:cNvSpPr/>
          <p:nvPr/>
        </p:nvSpPr>
        <p:spPr>
          <a:xfrm>
            <a:off x="2560320" y="4023360"/>
            <a:ext cx="5303160" cy="776880"/>
          </a:xfrm>
          <a:prstGeom prst="roundRect">
            <a:avLst>
              <a:gd name="adj" fmla="val 9412"/>
            </a:avLst>
          </a:prstGeom>
          <a:solidFill>
            <a:srgbClr val="FBF6E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33"/>
          <p:cNvSpPr/>
          <p:nvPr/>
        </p:nvSpPr>
        <p:spPr>
          <a:xfrm>
            <a:off x="2651760" y="4114800"/>
            <a:ext cx="5120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8A6520"/>
                </a:solidFill>
                <a:effectLst/>
                <a:uFillTx/>
                <a:latin typeface="Tajawal"/>
                <a:cs typeface="Tajawal"/>
              </a:rPr>
              <a:t>حذف مقيد : المهارات/الأدوار تُرجع </a:t>
            </a:r>
            <a:r>
              <a:rPr lang="en-US" sz="1000" b="0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409</a:t>
            </a:r>
            <a:r>
              <a:rPr lang="en-US" sz="1000" b="0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 عند وجود تبعيات — تُفعّل بالـ ?</a:t>
            </a:r>
            <a:r>
              <a:rPr lang="en-US" sz="1000" b="0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force=true</a:t>
            </a:r>
            <a:r>
              <a:rPr lang="en-US" sz="1000" b="0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 فقط.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0"/>
          <p:cNvSpPr/>
          <p:nvPr/>
        </p:nvSpPr>
        <p:spPr>
          <a:xfrm>
            <a:off x="8321040" y="320040"/>
            <a:ext cx="411120" cy="41112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"/>
          <p:cNvSpPr/>
          <p:nvPr/>
        </p:nvSpPr>
        <p:spPr>
          <a:xfrm>
            <a:off x="8321040" y="338400"/>
            <a:ext cx="411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١٥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"/>
          <p:cNvSpPr/>
          <p:nvPr/>
        </p:nvSpPr>
        <p:spPr>
          <a:xfrm>
            <a:off x="457200" y="32004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6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سيناريو شامل — رحلة المتعلّم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3"/>
          <p:cNvSpPr/>
          <p:nvPr/>
        </p:nvSpPr>
        <p:spPr>
          <a:xfrm>
            <a:off x="502920" y="1097280"/>
            <a:ext cx="1051200" cy="1508400"/>
          </a:xfrm>
          <a:prstGeom prst="roundRect">
            <a:avLst>
              <a:gd name="adj" fmla="val 6957"/>
            </a:avLst>
          </a:prstGeom>
          <a:solidFill>
            <a:srgbClr val="B5862E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4"/>
          <p:cNvSpPr/>
          <p:nvPr/>
        </p:nvSpPr>
        <p:spPr>
          <a:xfrm>
            <a:off x="502920" y="114300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١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5"/>
          <p:cNvSpPr/>
          <p:nvPr/>
        </p:nvSpPr>
        <p:spPr>
          <a:xfrm>
            <a:off x="502920" y="146304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التسجيل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6"/>
          <p:cNvSpPr/>
          <p:nvPr/>
        </p:nvSpPr>
        <p:spPr>
          <a:xfrm>
            <a:off x="502920" y="1783080"/>
            <a:ext cx="1051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إنشاء حساب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باسم أو بريد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7"/>
          <p:cNvSpPr/>
          <p:nvPr/>
        </p:nvSpPr>
        <p:spPr>
          <a:xfrm>
            <a:off x="1554480" y="1783080"/>
            <a:ext cx="109440" cy="1800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8"/>
          <p:cNvSpPr/>
          <p:nvPr/>
        </p:nvSpPr>
        <p:spPr>
          <a:xfrm>
            <a:off x="1664280" y="1097280"/>
            <a:ext cx="1051200" cy="1508400"/>
          </a:xfrm>
          <a:prstGeom prst="roundRect">
            <a:avLst>
              <a:gd name="adj" fmla="val 6957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9"/>
          <p:cNvSpPr/>
          <p:nvPr/>
        </p:nvSpPr>
        <p:spPr>
          <a:xfrm>
            <a:off x="1664280" y="114300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0"/>
          <p:cNvSpPr/>
          <p:nvPr/>
        </p:nvSpPr>
        <p:spPr>
          <a:xfrm>
            <a:off x="1664280" y="146304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الملف الشخصي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1"/>
          <p:cNvSpPr/>
          <p:nvPr/>
        </p:nvSpPr>
        <p:spPr>
          <a:xfrm>
            <a:off x="1664280" y="1819080"/>
            <a:ext cx="1051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تحديد الخبرات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المسبقة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2"/>
          <p:cNvSpPr/>
          <p:nvPr/>
        </p:nvSpPr>
        <p:spPr>
          <a:xfrm>
            <a:off x="2715840" y="1783080"/>
            <a:ext cx="109440" cy="1800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3"/>
          <p:cNvSpPr/>
          <p:nvPr/>
        </p:nvSpPr>
        <p:spPr>
          <a:xfrm>
            <a:off x="2825640" y="1097280"/>
            <a:ext cx="1051200" cy="1508400"/>
          </a:xfrm>
          <a:prstGeom prst="roundRect">
            <a:avLst>
              <a:gd name="adj" fmla="val 6957"/>
            </a:avLst>
          </a:prstGeom>
          <a:solidFill>
            <a:srgbClr val="B5862E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4"/>
          <p:cNvSpPr/>
          <p:nvPr/>
        </p:nvSpPr>
        <p:spPr>
          <a:xfrm>
            <a:off x="2825640" y="114300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٣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5"/>
          <p:cNvSpPr/>
          <p:nvPr/>
        </p:nvSpPr>
        <p:spPr>
          <a:xfrm>
            <a:off x="2825640" y="146304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المساعد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6"/>
          <p:cNvSpPr/>
          <p:nvPr/>
        </p:nvSpPr>
        <p:spPr>
          <a:xfrm>
            <a:off x="2825640" y="1783080"/>
            <a:ext cx="1051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اختيار الدور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+ </a:t>
            </a: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التفضيلات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17"/>
          <p:cNvSpPr/>
          <p:nvPr/>
        </p:nvSpPr>
        <p:spPr>
          <a:xfrm>
            <a:off x="3877200" y="1783080"/>
            <a:ext cx="109440" cy="1800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8"/>
          <p:cNvSpPr/>
          <p:nvPr/>
        </p:nvSpPr>
        <p:spPr>
          <a:xfrm>
            <a:off x="3986640" y="1097280"/>
            <a:ext cx="1051200" cy="1508400"/>
          </a:xfrm>
          <a:prstGeom prst="roundRect">
            <a:avLst>
              <a:gd name="adj" fmla="val 6957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9"/>
          <p:cNvSpPr/>
          <p:nvPr/>
        </p:nvSpPr>
        <p:spPr>
          <a:xfrm>
            <a:off x="3986640" y="114300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٤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0"/>
          <p:cNvSpPr/>
          <p:nvPr/>
        </p:nvSpPr>
        <p:spPr>
          <a:xfrm>
            <a:off x="3986640" y="146304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التوليد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21"/>
          <p:cNvSpPr/>
          <p:nvPr/>
        </p:nvSpPr>
        <p:spPr>
          <a:xfrm>
            <a:off x="3986640" y="1783080"/>
            <a:ext cx="1051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مسار شخصي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(Topo sorted)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22"/>
          <p:cNvSpPr/>
          <p:nvPr/>
        </p:nvSpPr>
        <p:spPr>
          <a:xfrm>
            <a:off x="5038200" y="1783080"/>
            <a:ext cx="109440" cy="1800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23"/>
          <p:cNvSpPr/>
          <p:nvPr/>
        </p:nvSpPr>
        <p:spPr>
          <a:xfrm>
            <a:off x="5148000" y="1097280"/>
            <a:ext cx="1051200" cy="1508400"/>
          </a:xfrm>
          <a:prstGeom prst="roundRect">
            <a:avLst>
              <a:gd name="adj" fmla="val 6957"/>
            </a:avLst>
          </a:prstGeom>
          <a:solidFill>
            <a:srgbClr val="B5862E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4"/>
          <p:cNvSpPr/>
          <p:nvPr/>
        </p:nvSpPr>
        <p:spPr>
          <a:xfrm>
            <a:off x="5148000" y="114300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٥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25"/>
          <p:cNvSpPr/>
          <p:nvPr/>
        </p:nvSpPr>
        <p:spPr>
          <a:xfrm>
            <a:off x="5148000" y="146304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التقييم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6"/>
          <p:cNvSpPr/>
          <p:nvPr/>
        </p:nvSpPr>
        <p:spPr>
          <a:xfrm>
            <a:off x="5148000" y="1783080"/>
            <a:ext cx="1051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اختبار كل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مهارة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27"/>
          <p:cNvSpPr/>
          <p:nvPr/>
        </p:nvSpPr>
        <p:spPr>
          <a:xfrm>
            <a:off x="6199560" y="1783080"/>
            <a:ext cx="109440" cy="1800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28"/>
          <p:cNvSpPr/>
          <p:nvPr/>
        </p:nvSpPr>
        <p:spPr>
          <a:xfrm>
            <a:off x="6309360" y="1097280"/>
            <a:ext cx="1051200" cy="1508400"/>
          </a:xfrm>
          <a:prstGeom prst="roundRect">
            <a:avLst>
              <a:gd name="adj" fmla="val 6957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29"/>
          <p:cNvSpPr/>
          <p:nvPr/>
        </p:nvSpPr>
        <p:spPr>
          <a:xfrm>
            <a:off x="6309360" y="114300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٦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30"/>
          <p:cNvSpPr/>
          <p:nvPr/>
        </p:nvSpPr>
        <p:spPr>
          <a:xfrm>
            <a:off x="6309360" y="146304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التعلّم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31"/>
          <p:cNvSpPr/>
          <p:nvPr/>
        </p:nvSpPr>
        <p:spPr>
          <a:xfrm>
            <a:off x="6309360" y="1783080"/>
            <a:ext cx="1051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إكمال الخطوات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واحدًا واحدًا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32"/>
          <p:cNvSpPr/>
          <p:nvPr/>
        </p:nvSpPr>
        <p:spPr>
          <a:xfrm>
            <a:off x="7360920" y="1783080"/>
            <a:ext cx="109440" cy="1800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33"/>
          <p:cNvSpPr/>
          <p:nvPr/>
        </p:nvSpPr>
        <p:spPr>
          <a:xfrm>
            <a:off x="7470720" y="1097280"/>
            <a:ext cx="1051200" cy="1508400"/>
          </a:xfrm>
          <a:prstGeom prst="roundRect">
            <a:avLst>
              <a:gd name="adj" fmla="val 6957"/>
            </a:avLst>
          </a:prstGeom>
          <a:solidFill>
            <a:srgbClr val="B5862E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34"/>
          <p:cNvSpPr/>
          <p:nvPr/>
        </p:nvSpPr>
        <p:spPr>
          <a:xfrm>
            <a:off x="7470720" y="114300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٧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35"/>
          <p:cNvSpPr/>
          <p:nvPr/>
        </p:nvSpPr>
        <p:spPr>
          <a:xfrm>
            <a:off x="7470720" y="146304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التقدم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36"/>
          <p:cNvSpPr/>
          <p:nvPr/>
        </p:nvSpPr>
        <p:spPr>
          <a:xfrm>
            <a:off x="7470720" y="1783080"/>
            <a:ext cx="1051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متابعة الكفاءة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+ </a:t>
            </a: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التحليلات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37"/>
          <p:cNvSpPr/>
          <p:nvPr/>
        </p:nvSpPr>
        <p:spPr>
          <a:xfrm>
            <a:off x="457200" y="28803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running in parallel</a:t>
            </a:r>
            <a:r>
              <a:rPr lang="en-US" sz="10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38"/>
          <p:cNvSpPr/>
          <p:nvPr/>
        </p:nvSpPr>
        <p:spPr>
          <a:xfrm>
            <a:off x="457200" y="3108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المدير يُدير المحتوى والمستخدمين — كل تغيّر يظهر للمتعلّم عبر 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SSE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.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39"/>
          <p:cNvSpPr/>
          <p:nvPr/>
        </p:nvSpPr>
        <p:spPr>
          <a:xfrm>
            <a:off x="1371600" y="3520440"/>
            <a:ext cx="6400440" cy="1371240"/>
          </a:xfrm>
          <a:prstGeom prst="roundRect">
            <a:avLst>
              <a:gd name="adj" fmla="val 5333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40"/>
          <p:cNvSpPr/>
          <p:nvPr/>
        </p:nvSpPr>
        <p:spPr>
          <a:xfrm>
            <a:off x="1554480" y="3566160"/>
            <a:ext cx="6034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البث الفوري (</a:t>
            </a:r>
            <a:r>
              <a:rPr lang="en-US" sz="13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SSE</a:t>
            </a:r>
            <a:r>
              <a:rPr lang="en-US" sz="13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41"/>
          <p:cNvSpPr/>
          <p:nvPr/>
        </p:nvSpPr>
        <p:spPr>
          <a:xfrm>
            <a:off x="1554480" y="3840480"/>
            <a:ext cx="6034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path_generated</a:t>
            </a: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 — مسار جديد جاهز.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assessment_completed</a:t>
            </a: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 — نتيجة تقييم.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proficiency_adjusted</a:t>
            </a: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 — مراجعة </a:t>
            </a: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AI</a:t>
            </a: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 للكفاءة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 يُدمج مع صفحات </a:t>
            </a: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React</a:t>
            </a: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 عبر </a:t>
            </a: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cache invalidation</a:t>
            </a: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0"/>
          <p:cNvSpPr/>
          <p:nvPr/>
        </p:nvSpPr>
        <p:spPr>
          <a:xfrm>
            <a:off x="8321040" y="320040"/>
            <a:ext cx="411120" cy="41112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"/>
          <p:cNvSpPr/>
          <p:nvPr/>
        </p:nvSpPr>
        <p:spPr>
          <a:xfrm>
            <a:off x="8321040" y="338400"/>
            <a:ext cx="411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١٦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2"/>
          <p:cNvSpPr/>
          <p:nvPr/>
        </p:nvSpPr>
        <p:spPr>
          <a:xfrm>
            <a:off x="457200" y="32004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6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السياقات الفرعية الأربعة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3"/>
          <p:cNvSpPr/>
          <p:nvPr/>
        </p:nvSpPr>
        <p:spPr>
          <a:xfrm>
            <a:off x="4754880" y="1051560"/>
            <a:ext cx="393156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4"/>
          <p:cNvSpPr/>
          <p:nvPr/>
        </p:nvSpPr>
        <p:spPr>
          <a:xfrm>
            <a:off x="4892040" y="11430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الفهرس</a:t>
            </a: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(Catalog)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5"/>
          <p:cNvSpPr/>
          <p:nvPr/>
        </p:nvSpPr>
        <p:spPr>
          <a:xfrm>
            <a:off x="4892040" y="1463040"/>
            <a:ext cx="36572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categories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skills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skill_prerequisites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job_roles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job_role_skills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resources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6"/>
          <p:cNvSpPr/>
          <p:nvPr/>
        </p:nvSpPr>
        <p:spPr>
          <a:xfrm>
            <a:off x="457200" y="1051560"/>
            <a:ext cx="393156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7"/>
          <p:cNvSpPr/>
          <p:nvPr/>
        </p:nvSpPr>
        <p:spPr>
          <a:xfrm>
            <a:off x="594360" y="11430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التقييم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(Assessment)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8"/>
          <p:cNvSpPr/>
          <p:nvPr/>
        </p:nvSpPr>
        <p:spPr>
          <a:xfrm>
            <a:off x="594360" y="1463040"/>
            <a:ext cx="36572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assessments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assessment_questions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assessment_results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user_skills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9"/>
          <p:cNvSpPr/>
          <p:nvPr/>
        </p:nvSpPr>
        <p:spPr>
          <a:xfrm>
            <a:off x="4754880" y="3154680"/>
            <a:ext cx="393156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0"/>
          <p:cNvSpPr/>
          <p:nvPr/>
        </p:nvSpPr>
        <p:spPr>
          <a:xfrm>
            <a:off x="4892040" y="32461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التعلّم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(Learning)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1"/>
          <p:cNvSpPr/>
          <p:nvPr/>
        </p:nvSpPr>
        <p:spPr>
          <a:xfrm>
            <a:off x="4892040" y="3566160"/>
            <a:ext cx="36572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paths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path_steps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step_progress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12"/>
          <p:cNvSpPr/>
          <p:nvPr/>
        </p:nvSpPr>
        <p:spPr>
          <a:xfrm>
            <a:off x="457200" y="3154680"/>
            <a:ext cx="393156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3"/>
          <p:cNvSpPr/>
          <p:nvPr/>
        </p:nvSpPr>
        <p:spPr>
          <a:xfrm>
            <a:off x="594360" y="32461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التفاعل</a:t>
            </a: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(Engagement)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4"/>
          <p:cNvSpPr/>
          <p:nvPr/>
        </p:nvSpPr>
        <p:spPr>
          <a:xfrm>
            <a:off x="594360" y="3566160"/>
            <a:ext cx="36572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activity_log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Shape 0"/>
          <p:cNvSpPr/>
          <p:nvPr/>
        </p:nvSpPr>
        <p:spPr>
          <a:xfrm>
            <a:off x="8321040" y="320040"/>
            <a:ext cx="411120" cy="41112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"/>
          <p:cNvSpPr/>
          <p:nvPr/>
        </p:nvSpPr>
        <p:spPr>
          <a:xfrm>
            <a:off x="8321040" y="338400"/>
            <a:ext cx="411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١٧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"/>
          <p:cNvSpPr/>
          <p:nvPr/>
        </p:nvSpPr>
        <p:spPr>
          <a:xfrm>
            <a:off x="457200" y="32004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المزايا التقنية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3"/>
          <p:cNvSpPr/>
          <p:nvPr/>
        </p:nvSpPr>
        <p:spPr>
          <a:xfrm>
            <a:off x="457200" y="1051560"/>
            <a:ext cx="822924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4"/>
          <p:cNvSpPr/>
          <p:nvPr/>
        </p:nvSpPr>
        <p:spPr>
          <a:xfrm>
            <a:off x="640080" y="109728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Clean Architecture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5"/>
          <p:cNvSpPr/>
          <p:nvPr/>
        </p:nvSpPr>
        <p:spPr>
          <a:xfrm>
            <a:off x="2834640" y="1097280"/>
            <a:ext cx="5668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8 </a:t>
            </a: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طبقات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: Routers → Services → Repositories → Entities → DTO → Policies → Middlewares → Events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6"/>
          <p:cNvSpPr/>
          <p:nvPr/>
        </p:nvSpPr>
        <p:spPr>
          <a:xfrm>
            <a:off x="457200" y="1965960"/>
            <a:ext cx="822924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7"/>
          <p:cNvSpPr/>
          <p:nvPr/>
        </p:nvSpPr>
        <p:spPr>
          <a:xfrm>
            <a:off x="640080" y="201168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3NF </a:t>
            </a:r>
            <a:r>
              <a:rPr lang="hi-IN" sz="14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قاعدة البيانات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8"/>
          <p:cNvSpPr/>
          <p:nvPr/>
        </p:nvSpPr>
        <p:spPr>
          <a:xfrm>
            <a:off x="2834640" y="2011680"/>
            <a:ext cx="5668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15 </a:t>
            </a: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جدول — صارم 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3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NF </a:t>
            </a: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مع 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4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استثناءات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JSON </a:t>
            </a: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موثقة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. DDL </a:t>
            </a: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مرجعي + مُحقق ضد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ORM (SCHEMA MATCH).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9"/>
          <p:cNvSpPr/>
          <p:nvPr/>
        </p:nvSpPr>
        <p:spPr>
          <a:xfrm>
            <a:off x="457200" y="2880360"/>
            <a:ext cx="822924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0"/>
          <p:cNvSpPr/>
          <p:nvPr/>
        </p:nvSpPr>
        <p:spPr>
          <a:xfrm>
            <a:off x="640080" y="292608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الأمان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(OWASP)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1"/>
          <p:cNvSpPr/>
          <p:nvPr/>
        </p:nvSpPr>
        <p:spPr>
          <a:xfrm>
            <a:off x="2834640" y="2926080"/>
            <a:ext cx="5668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JWT Bearer 24h + </a:t>
            </a: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قفل الحساب (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5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محاولات)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+ CSRF + CSP + HSTS + rate limiting + </a:t>
            </a: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سجل تدقيق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12"/>
          <p:cNvSpPr/>
          <p:nvPr/>
        </p:nvSpPr>
        <p:spPr>
          <a:xfrm>
            <a:off x="457200" y="3794760"/>
            <a:ext cx="822924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3"/>
          <p:cNvSpPr/>
          <p:nvPr/>
        </p:nvSpPr>
        <p:spPr>
          <a:xfrm>
            <a:off x="640080" y="384048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الجودة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14"/>
          <p:cNvSpPr/>
          <p:nvPr/>
        </p:nvSpPr>
        <p:spPr>
          <a:xfrm>
            <a:off x="2834640" y="3840480"/>
            <a:ext cx="5668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305+ </a:t>
            </a: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اختبار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pytest </a:t>
            </a: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معزول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+ svelte-check 0 </a:t>
            </a: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أخطاء + بناء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SvelteKit </a:t>
            </a: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مُوثّق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(adapter-node).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hape 0"/>
          <p:cNvSpPr/>
          <p:nvPr/>
        </p:nvSpPr>
        <p:spPr>
          <a:xfrm>
            <a:off x="8321040" y="320040"/>
            <a:ext cx="411120" cy="41112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1"/>
          <p:cNvSpPr/>
          <p:nvPr/>
        </p:nvSpPr>
        <p:spPr>
          <a:xfrm>
            <a:off x="8321040" y="338400"/>
            <a:ext cx="411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١٨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2"/>
          <p:cNvSpPr/>
          <p:nvPr/>
        </p:nvSpPr>
        <p:spPr>
          <a:xfrm>
            <a:off x="457200" y="32004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النتائج والفوائد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3"/>
          <p:cNvSpPr/>
          <p:nvPr/>
        </p:nvSpPr>
        <p:spPr>
          <a:xfrm>
            <a:off x="457200" y="1051560"/>
            <a:ext cx="1645560" cy="1096920"/>
          </a:xfrm>
          <a:prstGeom prst="roundRect">
            <a:avLst>
              <a:gd name="adj" fmla="val 6667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4"/>
          <p:cNvSpPr/>
          <p:nvPr/>
        </p:nvSpPr>
        <p:spPr>
          <a:xfrm>
            <a:off x="457200" y="109728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15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5"/>
          <p:cNvSpPr/>
          <p:nvPr/>
        </p:nvSpPr>
        <p:spPr>
          <a:xfrm>
            <a:off x="457200" y="160020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جدول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(3NF)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6"/>
          <p:cNvSpPr/>
          <p:nvPr/>
        </p:nvSpPr>
        <p:spPr>
          <a:xfrm>
            <a:off x="2331720" y="1051560"/>
            <a:ext cx="1645560" cy="1096920"/>
          </a:xfrm>
          <a:prstGeom prst="roundRect">
            <a:avLst>
              <a:gd name="adj" fmla="val 6667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7"/>
          <p:cNvSpPr/>
          <p:nvPr/>
        </p:nvSpPr>
        <p:spPr>
          <a:xfrm>
            <a:off x="2331720" y="109728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88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8"/>
          <p:cNvSpPr/>
          <p:nvPr/>
        </p:nvSpPr>
        <p:spPr>
          <a:xfrm>
            <a:off x="2331720" y="160020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عملية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API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9"/>
          <p:cNvSpPr/>
          <p:nvPr/>
        </p:nvSpPr>
        <p:spPr>
          <a:xfrm>
            <a:off x="4206240" y="1051560"/>
            <a:ext cx="1645560" cy="1096920"/>
          </a:xfrm>
          <a:prstGeom prst="roundRect">
            <a:avLst>
              <a:gd name="adj" fmla="val 6667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0"/>
          <p:cNvSpPr/>
          <p:nvPr/>
        </p:nvSpPr>
        <p:spPr>
          <a:xfrm>
            <a:off x="4206240" y="109728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305+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1"/>
          <p:cNvSpPr/>
          <p:nvPr/>
        </p:nvSpPr>
        <p:spPr>
          <a:xfrm>
            <a:off x="4206240" y="160020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اختبار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pytest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12"/>
          <p:cNvSpPr/>
          <p:nvPr/>
        </p:nvSpPr>
        <p:spPr>
          <a:xfrm>
            <a:off x="6080760" y="1051560"/>
            <a:ext cx="1645560" cy="1096920"/>
          </a:xfrm>
          <a:prstGeom prst="roundRect">
            <a:avLst>
              <a:gd name="adj" fmla="val 6667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3"/>
          <p:cNvSpPr/>
          <p:nvPr/>
        </p:nvSpPr>
        <p:spPr>
          <a:xfrm>
            <a:off x="6080760" y="109728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2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14"/>
          <p:cNvSpPr/>
          <p:nvPr/>
        </p:nvSpPr>
        <p:spPr>
          <a:xfrm>
            <a:off x="6080760" y="160020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تطبيق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(+ backend)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5"/>
          <p:cNvSpPr/>
          <p:nvPr/>
        </p:nvSpPr>
        <p:spPr>
          <a:xfrm>
            <a:off x="7955280" y="1051560"/>
            <a:ext cx="914040" cy="1096920"/>
          </a:xfrm>
          <a:prstGeom prst="roundRect">
            <a:avLst>
              <a:gd name="adj" fmla="val 8000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6"/>
          <p:cNvSpPr/>
          <p:nvPr/>
        </p:nvSpPr>
        <p:spPr>
          <a:xfrm>
            <a:off x="7955280" y="1097280"/>
            <a:ext cx="914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100%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7"/>
          <p:cNvSpPr/>
          <p:nvPr/>
        </p:nvSpPr>
        <p:spPr>
          <a:xfrm>
            <a:off x="7955280" y="160020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تعريب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ar/en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18"/>
          <p:cNvSpPr/>
          <p:nvPr/>
        </p:nvSpPr>
        <p:spPr>
          <a:xfrm>
            <a:off x="4663440" y="2468880"/>
            <a:ext cx="393156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9"/>
          <p:cNvSpPr/>
          <p:nvPr/>
        </p:nvSpPr>
        <p:spPr>
          <a:xfrm>
            <a:off x="4773240" y="2514600"/>
            <a:ext cx="371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تمكين المتعلّم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20"/>
          <p:cNvSpPr/>
          <p:nvPr/>
        </p:nvSpPr>
        <p:spPr>
          <a:xfrm>
            <a:off x="4773240" y="2761560"/>
            <a:ext cx="3711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مسار تعليمي شخصي يحترم المتطلبات المسبقة ويتكيّف مع مستواه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21"/>
          <p:cNvSpPr/>
          <p:nvPr/>
        </p:nvSpPr>
        <p:spPr>
          <a:xfrm>
            <a:off x="457200" y="2468880"/>
            <a:ext cx="393156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22"/>
          <p:cNvSpPr/>
          <p:nvPr/>
        </p:nvSpPr>
        <p:spPr>
          <a:xfrm>
            <a:off x="567000" y="2514600"/>
            <a:ext cx="371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شفافية التقييم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23"/>
          <p:cNvSpPr/>
          <p:nvPr/>
        </p:nvSpPr>
        <p:spPr>
          <a:xfrm>
            <a:off x="567000" y="2761560"/>
            <a:ext cx="3711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بنك أسئلة قياسي + تحسب الكفاءة (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0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–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5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) + تسعير واضح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24"/>
          <p:cNvSpPr/>
          <p:nvPr/>
        </p:nvSpPr>
        <p:spPr>
          <a:xfrm>
            <a:off x="4663440" y="3264480"/>
            <a:ext cx="393156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25"/>
          <p:cNvSpPr/>
          <p:nvPr/>
        </p:nvSpPr>
        <p:spPr>
          <a:xfrm>
            <a:off x="4773240" y="3310200"/>
            <a:ext cx="371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الشفافية الإدارية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26"/>
          <p:cNvSpPr/>
          <p:nvPr/>
        </p:nvSpPr>
        <p:spPr>
          <a:xfrm>
            <a:off x="4773240" y="3557160"/>
            <a:ext cx="3711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لوحة تحكم شاملة مع حماية البيانات وسجل تدقيق كامل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27"/>
          <p:cNvSpPr/>
          <p:nvPr/>
        </p:nvSpPr>
        <p:spPr>
          <a:xfrm>
            <a:off x="457200" y="3264480"/>
            <a:ext cx="393156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28"/>
          <p:cNvSpPr/>
          <p:nvPr/>
        </p:nvSpPr>
        <p:spPr>
          <a:xfrm>
            <a:off x="567000" y="3310200"/>
            <a:ext cx="371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قابلية التوسع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29"/>
          <p:cNvSpPr/>
          <p:nvPr/>
        </p:nvSpPr>
        <p:spPr>
          <a:xfrm>
            <a:off x="567000" y="3557160"/>
            <a:ext cx="3711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معمارية نظيفة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+ Clean Architecture + </a:t>
            </a: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تطبيقين منفصلين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30"/>
          <p:cNvSpPr/>
          <p:nvPr/>
        </p:nvSpPr>
        <p:spPr>
          <a:xfrm>
            <a:off x="457200" y="4114800"/>
            <a:ext cx="8229240" cy="776880"/>
          </a:xfrm>
          <a:prstGeom prst="roundRect">
            <a:avLst>
              <a:gd name="adj" fmla="val 9412"/>
            </a:avLst>
          </a:prstGeom>
          <a:solidFill>
            <a:srgbClr val="2A2521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31"/>
          <p:cNvSpPr/>
          <p:nvPr/>
        </p:nvSpPr>
        <p:spPr>
          <a:xfrm>
            <a:off x="640080" y="41605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رؤية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32"/>
          <p:cNvSpPr/>
          <p:nvPr/>
        </p:nvSpPr>
        <p:spPr>
          <a:xfrm>
            <a:off x="1554480" y="4160520"/>
            <a:ext cx="6949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منظومة تعليمية تكيفية تُمكّن كل متعلّم من بناء مسار مهني شخصي، خطوة بخطوة، مبني على متطلبات حقيقية و</a:t>
            </a:r>
            <a:r>
              <a:rPr lang="en-US" sz="12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2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PROFILE </a:t>
            </a:r>
            <a:r>
              <a:rPr lang="hi-IN" sz="12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كفاءة دقيق</a:t>
            </a:r>
            <a:r>
              <a:rPr lang="en-US" sz="12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A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Text 0"/>
          <p:cNvSpPr/>
          <p:nvPr/>
        </p:nvSpPr>
        <p:spPr>
          <a:xfrm>
            <a:off x="457200" y="7315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SkillSynth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"/>
          <p:cNvSpPr/>
          <p:nvPr/>
        </p:nvSpPr>
        <p:spPr>
          <a:xfrm>
            <a:off x="457200" y="13716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0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منظومة ذكية للتعلم التكيفي وبناء المهارات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2"/>
          <p:cNvSpPr/>
          <p:nvPr/>
        </p:nvSpPr>
        <p:spPr>
          <a:xfrm>
            <a:off x="3200400" y="1965960"/>
            <a:ext cx="2742840" cy="13320"/>
          </a:xfrm>
          <a:prstGeom prst="rect">
            <a:avLst/>
          </a:prstGeom>
          <a:solidFill>
            <a:srgbClr val="B586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1320" rIns="90000" bIns="-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3"/>
          <p:cNvSpPr/>
          <p:nvPr/>
        </p:nvSpPr>
        <p:spPr>
          <a:xfrm>
            <a:off x="457200" y="21945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شكر وتقدير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4"/>
          <p:cNvSpPr/>
          <p:nvPr/>
        </p:nvSpPr>
        <p:spPr>
          <a:xfrm>
            <a:off x="457200" y="25603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CFC3AE"/>
                </a:solidFill>
                <a:effectLst/>
                <a:uFillTx/>
                <a:latin typeface="Tajawal"/>
                <a:cs typeface="Tajawal"/>
              </a:rPr>
              <a:t>إشراف: د. بدر الدين قصاب — د. سهيل خواتمي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5"/>
          <p:cNvSpPr/>
          <p:nvPr/>
        </p:nvSpPr>
        <p:spPr>
          <a:xfrm>
            <a:off x="457200" y="28803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0" u="none" strike="noStrike">
                <a:solidFill>
                  <a:srgbClr val="7C8A6B"/>
                </a:solidFill>
                <a:effectLst/>
                <a:uFillTx/>
                <a:latin typeface="Tajawal"/>
                <a:cs typeface="Tajawal"/>
              </a:rPr>
              <a:t>إعداد:  </a:t>
            </a:r>
            <a:r>
              <a:rPr lang="hi-IN" sz="1200" b="0" u="none" strike="noStrike">
                <a:solidFill>
                  <a:srgbClr val="7C8A6B"/>
                </a:solidFill>
                <a:effectLst/>
                <a:uFillTx/>
                <a:latin typeface="Tajawal"/>
                <a:cs typeface="Tajawal"/>
              </a:rPr>
              <a:t>زهير حمامي · </a:t>
            </a:r>
            <a:r>
              <a:rPr lang="hi-IN" sz="1200" b="0" u="none" strike="noStrike">
                <a:solidFill>
                  <a:srgbClr val="7C8A6B"/>
                </a:solidFill>
                <a:effectLst/>
                <a:uFillTx/>
                <a:latin typeface="Tajawal"/>
                <a:cs typeface="Tajawal"/>
              </a:rPr>
              <a:t>علي عثمان عبد الملك ·  مصطفى منلا محمد · أحمد أحمد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6"/>
          <p:cNvSpPr/>
          <p:nvPr/>
        </p:nvSpPr>
        <p:spPr>
          <a:xfrm>
            <a:off x="457200" y="34747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CFC3AE"/>
                </a:solidFill>
                <a:effectLst/>
                <a:uFillTx/>
                <a:latin typeface="Tajawal"/>
                <a:cs typeface="Tajawal"/>
              </a:rPr>
              <a:t>جامعة حلب — كلية الهندسة المعلوماتية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7"/>
          <p:cNvSpPr/>
          <p:nvPr/>
        </p:nvSpPr>
        <p:spPr>
          <a:xfrm>
            <a:off x="457200" y="37947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0" u="none" strike="noStrike">
                <a:solidFill>
                  <a:srgbClr val="7C8A6B"/>
                </a:solidFill>
                <a:effectLst/>
                <a:uFillTx/>
                <a:latin typeface="Tajawal"/>
                <a:cs typeface="Tajawal"/>
              </a:rPr>
              <a:t>مشروع السنة الرابعة — </a:t>
            </a:r>
            <a:r>
              <a:rPr lang="hi-IN" sz="1200" b="0" u="none" strike="noStrike">
                <a:solidFill>
                  <a:srgbClr val="7C8A6B"/>
                </a:solidFill>
                <a:effectLst/>
                <a:uFillTx/>
                <a:latin typeface="Tajawal"/>
                <a:cs typeface="Tajawal"/>
              </a:rPr>
              <a:t>٢٠٢٥</a:t>
            </a:r>
            <a:r>
              <a:rPr lang="en-US" sz="1200" b="0" u="none" strike="noStrike">
                <a:solidFill>
                  <a:srgbClr val="7C8A6B"/>
                </a:solidFill>
                <a:effectLst/>
                <a:uFillTx/>
                <a:latin typeface="Tajawal"/>
                <a:ea typeface="Tajawal"/>
              </a:rPr>
              <a:t>–</a:t>
            </a:r>
            <a:r>
              <a:rPr lang="hi-IN" sz="1200" b="0" u="none" strike="noStrike">
                <a:solidFill>
                  <a:srgbClr val="7C8A6B"/>
                </a:solidFill>
                <a:effectLst/>
                <a:uFillTx/>
                <a:latin typeface="Tajawal"/>
                <a:cs typeface="Tajawal"/>
              </a:rPr>
              <a:t>٢٠٢٦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8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9"/>
          <p:cNvSpPr/>
          <p:nvPr/>
        </p:nvSpPr>
        <p:spPr>
          <a:xfrm>
            <a:off x="457200" y="43434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هل لديكم أسئلة؟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Application>LibreOffice/26.8.0.3$Linux_X86_64 LibreOffice_project/680$Build-3</Application>
  <AppVersion>15.0000</AppVersion>
  <Words>0</Words>
  <Paragraphs>0</Paragraphs>
  <Company>University of Aleppo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2026-09-03T18:50:15Z</dcterms:created>
  <dc:creator>SkillSynth Team</dc:creator>
  <dc:description/>
  <dc:language>en-US</dc:language>
  <cp:lastModifiedBy/>
  <dcterms:modified xsi:type="dcterms:W3CDTF">2026-09-03T22:54:09Z</dcterms:modified>
  <cp:revision>31</cp:revision>
  <dc:subject>SkillSynth - Adaptive Learning OS</dc:subject>
  <dc:title>SkillSynth — منظومة ذكية للتعلم التكيفي وبناء المهارات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On-screen Show (16:9)</vt:lpwstr>
  </property>
  <property fmtid="{D5CDD505-2E9C-101B-9397-08002B2CF9AE}" pid="4" name="Slides">
    <vt:i4>20</vt:i4>
  </property>
</Properties>
</file>