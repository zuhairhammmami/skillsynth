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C5444B1-2750-4869-B14F-DC387373AD3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في الشريحة: اسم المشروع بالعربية، إشراف، أعداد الطلبة، الجامعة والكلية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813189-F1EC-41B0-9D87-3AEB78386D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هذه الشريحة تعرّف المشكلة: التعليم الجامد، غياب تحليل الفجوات، وغياب المسار الشخصي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89B61-58CA-4351-AF90-6BB2C65F67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هذه الشريحة تلخّص أهداف المشروع: التقييم، تحليل الفجوات، توليد المسارات، التتبع، التحليلات، وإدارة المحتوى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916543-AB21-491E-8263-60681ACD79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هذه الشريحة توضّح العلاقة بين المهارات والمتطلبات المسبقة والفئات والكفاءة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9BAA69-5FDC-4142-AF20-6D3B6E8BF6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هذه الشريحة توضّح التقييم والمسارات وسجل النشاط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4344BE-9066-41BA-9128-82670DBB65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المعمارية: ثلاثة تطبيقات (دراسة، إدارة، خادم) + قاعدة بيانات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جدول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8E8761-1F2D-446F-A1A9-900B222FE9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توضيح تدفّق توليد المسارات: المساعد → التصنيف → الترتيب → المسار → التقدم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1DAEC2-B57E-4494-B3A8-B1E40B85EC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SS-AI: LLM 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محلي مُقيّد، لا يتجاوز التقييم الحاسم، افتراضيًا معطّل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653A7C-2B8B-49E7-9EA6-F91C5E9E2F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الرسم التوضيحي الشامل لنموذج البيانات: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جدولًا مترابطًا دون تكرار، ضمن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سياقات فرعية، بتصميم صارم وفق النموذج العلائقي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4A7112-8355-406E-B13C-33C148FBD4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سياق الفهرس: الفئات والمهارات والمتطلبات والأدوار المهنية والموارد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ED03F8-47AF-44E8-8712-661DEC2C7F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سياق التقييم: الاختبارات، الأسئلة، النتائج، وكتابة الكفاءة في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user_skills.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3FE254-64E7-4B1E-84DD-E09441E79E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سياق التعلّم: المسارات والخطوات والتقدم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F16373-C8B8-46D3-9381-587499C042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سياق التفاعل: سجل النشاط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(append-only audit trail) 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مع أنواع الفئات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68FA83-0591-4933-9F20-896BDA8CA2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حالات الاستخدام: المتعلم — التسجيل، المساعد، التقييم، الإكمال، الكتالوج، التقدم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EC9DDD-1FE4-47D8-A196-15272736D3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حالات الاستخدام: المدير — إدارة المستخدمين والمهارات والموارد والاختبارات والنسخ الاحتياطي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E5BAB3-1110-469A-9B7C-B83B4B2C60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السيناريو الشامل: رحلة المتعلّم خطوة بخطوة مع تدفّق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F1261E-601E-467F-8C12-38D98DDFBE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السياقات الفرعية الأربعة: الفهرس، التقييم، التعلّم، التفاعل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D51E19-FC14-49B4-81AB-81CD2A4A3B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المزايا التقنية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Clean Architecture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3NF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، 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الأمان، الجودة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3DB08A-FF41-464C-88C5-53A840781B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النتائج والفوائد: إحصائيات، تمكين المتعلّم، الشفافية، قابلية التوسع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67EA40-AD6C-4F7D-AF19-492D3F3729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خطة التطوير المستقبلية: توسيع المحتوى، تعميق الاستفادة من الذكاء الاصطناعي، إضافة أدوات للفرق والمؤسسات، والانتقال إلى تطبيق جوال يدعم التعلّم دون اتصال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EB516C-2026-4CB9-90B8-A52F371056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الخاتمة: شكر وتقدير، أسماء الفريق والمشرّفين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578E68-C383-4D2A-9601-C1563A945F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962000" y="274320"/>
            <a:ext cx="5028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جامعة حلب — كلية الهندسة المعلوماتية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59436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مشروع السنة الرابعة — </a:t>
            </a:r>
            <a:r>
              <a:rPr lang="hi-IN" sz="11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٢٠٢٥</a:t>
            </a:r>
            <a:r>
              <a:rPr lang="en-US" sz="1100" b="0" u="none" strike="noStrike">
                <a:solidFill>
                  <a:srgbClr val="7C8A6B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hi-IN" sz="11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٢٠٢٦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109728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SkillSynth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17830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منظومة ذكية للتعلم التكيفي وبناء المهارات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22402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تَرسم مسارًا مهنيًا شخصيًا خطوة بخطوة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3200400" y="2788920"/>
            <a:ext cx="2742480" cy="12960"/>
          </a:xfrm>
          <a:prstGeom prst="rect">
            <a:avLst/>
          </a:prstGeom>
          <a:solidFill>
            <a:srgbClr val="B586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29260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إشراف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320040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د. بدر الدين قصاب — د. سهيل خواتمي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36118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إعداد الطلبة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57200" y="388620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زهير حمامي — علي عثمان عبد الملك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57200" y="41605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مصطفى منلا محمد — أحمد أحمد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المقدمة — المشكلة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4663440" y="1051560"/>
            <a:ext cx="397692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4754880" y="112464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تعلّم ثابت للجميع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4754880" y="1371600"/>
            <a:ext cx="3794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معظم المنصات تُقدّم المحتوى نفسه لكل المتعلمين، دون مراعاة خبراتهم ومستواهم.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4663440" y="1965960"/>
            <a:ext cx="397692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4754880" y="203904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غياب تحليل الفجوات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4754880" y="2286000"/>
            <a:ext cx="3794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لا توجد أداة تحدد المهارات الناقصة لدى المتعلم ومتطلباتها بشكل تلقائي.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4663440" y="2880360"/>
            <a:ext cx="397692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4754880" y="295344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غياب المسار الشخصي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4754880" y="3200400"/>
            <a:ext cx="3794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لا توجد آلية لتوليد مسار تعلّم يراعي تسلسل المعرفة ويُبنى حول المتعلم نفسه.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4663440" y="3794760"/>
            <a:ext cx="397692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4754880" y="3867840"/>
            <a:ext cx="3794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تتبع وتقييم ضعيفان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4754880" y="4114800"/>
            <a:ext cx="3794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لا يوجد نظام يقيس مستوى الكفاءة ويُحدّثه باستمرار حسب أداء المتعلم.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457200" y="1051560"/>
            <a:ext cx="3976920" cy="3519720"/>
          </a:xfrm>
          <a:prstGeom prst="roundRect">
            <a:avLst>
              <a:gd name="adj" fmla="val 2078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640080" y="1234440"/>
            <a:ext cx="361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الحاجة إلى منظومة ذكية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640080" y="1645920"/>
            <a:ext cx="3611160" cy="25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منظومة تكيفية تجمع بين تقييم المهارات، وتحليل الفجوات، وتوليد مسارات شخصية تُبنى على متطلبات كل مهارة.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٢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أهداف المشروع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4663440" y="1005840"/>
            <a:ext cx="397692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4800600" y="1060560"/>
            <a:ext cx="370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تقييم المهارات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4800600" y="1325880"/>
            <a:ext cx="3702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نظام تقييم دقيق يقيس كفاءة المتعلم في كل مهارة بمقياس من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0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 إلى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5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، عبر بنك أسئلة موحّد.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457200" y="1005840"/>
            <a:ext cx="397692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594360" y="1060560"/>
            <a:ext cx="370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تحليل الفجوات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594360" y="1325880"/>
            <a:ext cx="3702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تحليل كل مهارة ومتطلباتها، وكشف المهارات الناقصة تلقائيًا وفق المستوى الحالي.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4663440" y="1828800"/>
            <a:ext cx="397692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4800600" y="1883520"/>
            <a:ext cx="370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توليد المسارات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4800600" y="2148840"/>
            <a:ext cx="3702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مسار تعلّم شخصي مرتبط بدور مهني محدد، مرتّب بحيث لا تظهر مهارة قبل إتمام متطلباتها.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457200" y="1828800"/>
            <a:ext cx="397692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594360" y="1883520"/>
            <a:ext cx="370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تتبع التقدم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594360" y="2148840"/>
            <a:ext cx="3702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متابعة تقدّم المتعلم خطوة بخطوة، وتحديث مستوى الكفاءة أولًا بأول.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4663440" y="2651760"/>
            <a:ext cx="397692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4800600" y="2706480"/>
            <a:ext cx="370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لوحة التحليلات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4800600" y="2971800"/>
            <a:ext cx="3702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إحصائيات التعلّم: المهارات المتقنة، سرعة التعلم، نمو المهارات، والسجل التفصيلي.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457200" y="2651760"/>
            <a:ext cx="397692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594360" y="2706480"/>
            <a:ext cx="370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إدارة المحتوى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594360" y="2971800"/>
            <a:ext cx="3702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لوحة تحكم كاملة لإدارة المستخدمين والمهارات والموارد والاختبارات، مع الحفاظ على سلامة البيانات.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٣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المفاهيم الأساسية — المهارات والمتطلبات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3200400" y="1188720"/>
            <a:ext cx="2742480" cy="639360"/>
          </a:xfrm>
          <a:prstGeom prst="roundRect">
            <a:avLst>
              <a:gd name="adj" fmla="val 11429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3200400" y="123444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مهارة (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Skill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3200400" y="150876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CFC3AE"/>
                </a:solidFill>
                <a:effectLst/>
                <a:uFillTx/>
                <a:latin typeface="Tajawal"/>
              </a:rPr>
              <a:t>الوقت التقديري · الأيقونة · اللون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6583680" y="1188720"/>
            <a:ext cx="2102400" cy="639360"/>
          </a:xfrm>
          <a:prstGeom prst="roundRect">
            <a:avLst>
              <a:gd name="adj" fmla="val 11429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6583680" y="123444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فئة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(Category)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6583680" y="1463040"/>
            <a:ext cx="2102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</a:rPr>
              <a:t>تصنيف فرعي يبني تصنيفًا أكبر (من أب لابن)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5943600" y="1463040"/>
            <a:ext cx="63936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457200" y="2103120"/>
            <a:ext cx="2559600" cy="4107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457200" y="214884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المهارة أ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457200" y="2606040"/>
            <a:ext cx="2559600" cy="4107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457200" y="265176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المهارة 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457200" y="3108960"/>
            <a:ext cx="2559600" cy="4107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457200" y="315468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المهارة 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3200400" y="2377440"/>
            <a:ext cx="2742480" cy="593640"/>
          </a:xfrm>
          <a:prstGeom prst="roundRect">
            <a:avLst>
              <a:gd name="adj" fmla="val 12308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7"/>
          <p:cNvSpPr/>
          <p:nvPr/>
        </p:nvSpPr>
        <p:spPr>
          <a:xfrm>
            <a:off x="3200400" y="242316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ajawal"/>
              </a:rPr>
              <a:t>المتطلبات المسبقة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3200400" y="265176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</a:rPr>
              <a:t>المهارة + متطلبُها (لا تُتعلم إلا بعد إتمامها)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9"/>
          <p:cNvSpPr/>
          <p:nvPr/>
        </p:nvSpPr>
        <p:spPr>
          <a:xfrm>
            <a:off x="3017520" y="2560320"/>
            <a:ext cx="18216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0"/>
          <p:cNvSpPr/>
          <p:nvPr/>
        </p:nvSpPr>
        <p:spPr>
          <a:xfrm>
            <a:off x="3200400" y="3291840"/>
            <a:ext cx="2742480" cy="593640"/>
          </a:xfrm>
          <a:prstGeom prst="roundRect">
            <a:avLst>
              <a:gd name="adj" fmla="val 12308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1"/>
          <p:cNvSpPr/>
          <p:nvPr/>
        </p:nvSpPr>
        <p:spPr>
          <a:xfrm>
            <a:off x="3200400" y="333756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مستوى الكفاءة (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ajawal"/>
              </a:rPr>
              <a:t>user_skills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ajaw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2"/>
          <p:cNvSpPr/>
          <p:nvPr/>
        </p:nvSpPr>
        <p:spPr>
          <a:xfrm>
            <a:off x="3200400" y="356616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CFC3AE"/>
                </a:solidFill>
                <a:effectLst/>
                <a:uFillTx/>
                <a:latin typeface="Tajawal"/>
              </a:rPr>
              <a:t>المستخدم + المهارة + مستوى الكفاءة (</a:t>
            </a:r>
            <a:r>
              <a:rPr lang="en-US" sz="9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0</a:t>
            </a:r>
            <a:r>
              <a:rPr lang="en-US" sz="9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en-US" sz="9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5</a:t>
            </a:r>
            <a:r>
              <a:rPr lang="en-US" sz="9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3"/>
          <p:cNvSpPr/>
          <p:nvPr/>
        </p:nvSpPr>
        <p:spPr>
          <a:xfrm>
            <a:off x="6583680" y="2103120"/>
            <a:ext cx="2102400" cy="1828080"/>
          </a:xfrm>
          <a:prstGeom prst="roundRect">
            <a:avLst>
              <a:gd name="adj" fmla="val 4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6675120" y="219456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المفاهيم الأساسية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5"/>
          <p:cNvSpPr/>
          <p:nvPr/>
        </p:nvSpPr>
        <p:spPr>
          <a:xfrm>
            <a:off x="6675120" y="2468880"/>
            <a:ext cx="19195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• المتطلبات تُرتّب بلا تكرار ولا دورات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• ترتيب منطقي: لا تبدأ مهارة قبل متطلباتها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• الفئات تُبنى بعضها فوق بعض في تسلسل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• الدور المهني يمنح كل مهارة وزنًا في المسار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٤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المفاهيم الأساسية — التقييم والمسارات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4846320" y="1097280"/>
            <a:ext cx="3839760" cy="6393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4937760" y="115200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اختبار (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Assessment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4937760" y="141732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بنك أسئلة · درجة النجاح · مقياس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0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4846320" y="1874520"/>
            <a:ext cx="3839760" cy="6393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4937760" y="19292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سؤال (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Question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4937760" y="219456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السؤال · الخيارات · الإجابة الصحيحة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4846320" y="2651760"/>
            <a:ext cx="3839760" cy="6393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4937760" y="27064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نتيجة (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Result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4937760" y="297180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المستخدم · الاختبار · الدرجة · النجاح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4846320" y="3429000"/>
            <a:ext cx="3839760" cy="6393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4937760" y="34837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كفاءة (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UserSkill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4937760" y="374904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مستوى الكفاءة · تاريخ آخر تقييم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5"/>
          <p:cNvSpPr/>
          <p:nvPr/>
        </p:nvSpPr>
        <p:spPr>
          <a:xfrm>
            <a:off x="457200" y="1097280"/>
            <a:ext cx="3839760" cy="6393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548640" y="115200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مسار (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Path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548640" y="141732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المستخدم · العنوان · الدور المستهدف · الحالة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8"/>
          <p:cNvSpPr/>
          <p:nvPr/>
        </p:nvSpPr>
        <p:spPr>
          <a:xfrm>
            <a:off x="457200" y="2057400"/>
            <a:ext cx="3839760" cy="6393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548640" y="21121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خطوة (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Step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0"/>
          <p:cNvSpPr/>
          <p:nvPr/>
        </p:nvSpPr>
        <p:spPr>
          <a:xfrm>
            <a:off x="548640" y="237744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المهارة · الترتيب · الموارد · الاختبارات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1"/>
          <p:cNvSpPr/>
          <p:nvPr/>
        </p:nvSpPr>
        <p:spPr>
          <a:xfrm>
            <a:off x="457200" y="3017520"/>
            <a:ext cx="3839760" cy="6393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2"/>
          <p:cNvSpPr/>
          <p:nvPr/>
        </p:nvSpPr>
        <p:spPr>
          <a:xfrm>
            <a:off x="548640" y="30722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تقدم (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Progress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3"/>
          <p:cNvSpPr/>
          <p:nvPr/>
        </p:nvSpPr>
        <p:spPr>
          <a:xfrm>
            <a:off x="548640" y="333756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المستخدم · الخطوة · وقت الإكمال · الدرجة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4"/>
          <p:cNvSpPr/>
          <p:nvPr/>
        </p:nvSpPr>
        <p:spPr>
          <a:xfrm>
            <a:off x="4846320" y="868680"/>
            <a:ext cx="3839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تقييم المهارات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5"/>
          <p:cNvSpPr/>
          <p:nvPr/>
        </p:nvSpPr>
        <p:spPr>
          <a:xfrm>
            <a:off x="457200" y="868680"/>
            <a:ext cx="3839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مسارات التعلّم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6"/>
          <p:cNvSpPr/>
          <p:nvPr/>
        </p:nvSpPr>
        <p:spPr>
          <a:xfrm>
            <a:off x="457200" y="4135320"/>
            <a:ext cx="8228880" cy="91368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7"/>
          <p:cNvSpPr/>
          <p:nvPr/>
        </p:nvSpPr>
        <p:spPr>
          <a:xfrm>
            <a:off x="640080" y="4199400"/>
            <a:ext cx="7863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سجل النشاط (</a:t>
            </a:r>
            <a:r>
              <a:rPr lang="en-US" sz="14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activity_log</a:t>
            </a:r>
            <a:r>
              <a:rPr lang="en-US" sz="14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8"/>
          <p:cNvSpPr/>
          <p:nvPr/>
        </p:nvSpPr>
        <p:spPr>
          <a:xfrm>
            <a:off x="640080" y="4527360"/>
            <a:ext cx="7863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يُسجّل كل نشاط للمتعلم: التسجيل، إتمام خطوة، أداء اختبار، توليد مسار — مع البيانات المساندة (الوقت والمتصفح والعنوان).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معمارية النظام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"/>
          <p:cNvSpPr/>
          <p:nvPr/>
        </p:nvSpPr>
        <p:spPr>
          <a:xfrm>
            <a:off x="457200" y="1097280"/>
            <a:ext cx="2559600" cy="1462320"/>
          </a:xfrm>
          <a:prstGeom prst="roundRect">
            <a:avLst>
              <a:gd name="adj" fmla="val 5000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457200" y="118872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التطبيق الدراسي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457200" y="150876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واجهة الطالب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TypeScript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457200" y="196596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3000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457200" y="2834640"/>
            <a:ext cx="2559600" cy="1462320"/>
          </a:xfrm>
          <a:prstGeom prst="roundRect">
            <a:avLst>
              <a:gd name="adj" fmla="val 5000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457200" y="292608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تطبيق الإدارة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457200" y="324612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واجهة الإدارة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TypeScript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457200" y="370332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3001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1"/>
          <p:cNvSpPr/>
          <p:nvPr/>
        </p:nvSpPr>
        <p:spPr>
          <a:xfrm>
            <a:off x="3017520" y="1737360"/>
            <a:ext cx="82224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2"/>
          <p:cNvSpPr/>
          <p:nvPr/>
        </p:nvSpPr>
        <p:spPr>
          <a:xfrm>
            <a:off x="3017520" y="3474720"/>
            <a:ext cx="82224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3017520" y="2240280"/>
            <a:ext cx="822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8A7B6C"/>
                </a:solidFill>
                <a:effectLst/>
                <a:uFillTx/>
                <a:latin typeface="Tajawal"/>
              </a:rPr>
              <a:t>تواصل آمن وبثّ لحظي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8A7B6C"/>
                </a:solidFill>
                <a:effectLst/>
                <a:uFillTx/>
                <a:latin typeface="Tajawal"/>
              </a:rPr>
              <a:t>مفاتيح وصول مؤقتة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4114800" y="1097280"/>
            <a:ext cx="4571280" cy="1462320"/>
          </a:xfrm>
          <a:prstGeom prst="roundRect">
            <a:avLst>
              <a:gd name="adj" fmla="val 5000"/>
            </a:avLst>
          </a:prstGeom>
          <a:solidFill>
            <a:srgbClr val="2A2521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5"/>
          <p:cNvSpPr/>
          <p:nvPr/>
        </p:nvSpPr>
        <p:spPr>
          <a:xfrm>
            <a:off x="4114800" y="118872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5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الخادم (</a:t>
            </a:r>
            <a:r>
              <a:rPr lang="en-US" sz="15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FastAPI</a:t>
            </a:r>
            <a:r>
              <a:rPr lang="en-US" sz="15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6"/>
          <p:cNvSpPr/>
          <p:nvPr/>
        </p:nvSpPr>
        <p:spPr>
          <a:xfrm>
            <a:off x="4114800" y="1508760"/>
            <a:ext cx="45712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FastAPI + SQLAlchemy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CFC3AE"/>
                </a:solidFill>
                <a:effectLst/>
                <a:uFillTx/>
                <a:latin typeface="Tajawal"/>
              </a:rPr>
              <a:t>معمارية منظمة على </a:t>
            </a: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8</a:t>
            </a: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 طبقات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7"/>
          <p:cNvSpPr/>
          <p:nvPr/>
        </p:nvSpPr>
        <p:spPr>
          <a:xfrm>
            <a:off x="4114800" y="228600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8A7B6C"/>
                </a:solidFill>
                <a:effectLst/>
                <a:uFillTx/>
                <a:latin typeface="Tajawal"/>
              </a:rPr>
              <a:t>المنفذ </a:t>
            </a: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8000</a:t>
            </a: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 — توثيق كامل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8"/>
          <p:cNvSpPr/>
          <p:nvPr/>
        </p:nvSpPr>
        <p:spPr>
          <a:xfrm>
            <a:off x="5029200" y="2926080"/>
            <a:ext cx="2742480" cy="1370880"/>
          </a:xfrm>
          <a:prstGeom prst="roundRect">
            <a:avLst>
              <a:gd name="adj" fmla="val 5333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5029200" y="301752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قاعدة البيانات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0"/>
          <p:cNvSpPr/>
          <p:nvPr/>
        </p:nvSpPr>
        <p:spPr>
          <a:xfrm>
            <a:off x="5029200" y="342936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SQLite </a:t>
            </a:r>
            <a:r>
              <a:rPr lang="hi-IN" sz="1100" b="0" u="none" strike="noStrike">
                <a:solidFill>
                  <a:srgbClr val="CFC3AE"/>
                </a:solidFill>
                <a:effectLst/>
                <a:uFillTx/>
                <a:latin typeface="Tajawal"/>
              </a:rPr>
              <a:t>للتطوير</a:t>
            </a: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100" b="0" u="none" strike="noStrike">
                <a:solidFill>
                  <a:srgbClr val="CFC3AE"/>
                </a:solidFill>
                <a:effectLst/>
                <a:uFillTx/>
                <a:latin typeface="Tajawal"/>
                <a:ea typeface="Tajawal"/>
              </a:rPr>
              <a:t>/ PostgreSQL </a:t>
            </a:r>
            <a:r>
              <a:rPr lang="hi-IN" sz="1100" b="0" u="none" strike="noStrike">
                <a:solidFill>
                  <a:srgbClr val="CFC3AE"/>
                </a:solidFill>
                <a:effectLst/>
                <a:uFillTx/>
                <a:latin typeface="Tajawal"/>
              </a:rPr>
              <a:t>للتشغيل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2"/>
          <p:cNvSpPr/>
          <p:nvPr/>
        </p:nvSpPr>
        <p:spPr>
          <a:xfrm>
            <a:off x="6217920" y="2606040"/>
            <a:ext cx="17640" cy="31932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" tIns="45000" rIns="9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منظومة التعلّم — توليد المسارات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457200" y="1188720"/>
            <a:ext cx="1416600" cy="1005120"/>
          </a:xfrm>
          <a:prstGeom prst="roundRect">
            <a:avLst>
              <a:gd name="adj" fmla="val 7273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457200" y="1280160"/>
            <a:ext cx="1416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المساعد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457200" y="160020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دور مهني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+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تفضيلات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6"/>
          <p:cNvSpPr/>
          <p:nvPr/>
        </p:nvSpPr>
        <p:spPr>
          <a:xfrm>
            <a:off x="1874520" y="1682640"/>
            <a:ext cx="13644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-26640" rIns="684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2011680" y="1188720"/>
            <a:ext cx="1416600" cy="1005120"/>
          </a:xfrm>
          <a:prstGeom prst="roundRect">
            <a:avLst>
              <a:gd name="adj" fmla="val 7273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2011680" y="1280160"/>
            <a:ext cx="1416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تصنيف المهارات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2011680" y="160020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ترجيح المهارات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واستبعاد المكتسب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3429000" y="1682640"/>
            <a:ext cx="13644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-26640" rIns="684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3566160" y="1188720"/>
            <a:ext cx="1416600" cy="1005120"/>
          </a:xfrm>
          <a:prstGeom prst="roundRect">
            <a:avLst>
              <a:gd name="adj" fmla="val 7273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3566160" y="1280160"/>
            <a:ext cx="1416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ترتيب خوارزمي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3566160" y="160020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</a:rPr>
              <a:t>ترتيب منطقي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</a:rPr>
              <a:t>حسب تسلسل المتطلبات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4"/>
          <p:cNvSpPr/>
          <p:nvPr/>
        </p:nvSpPr>
        <p:spPr>
          <a:xfrm>
            <a:off x="4983480" y="1682640"/>
            <a:ext cx="13644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-26640" rIns="684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5120640" y="1188720"/>
            <a:ext cx="1416600" cy="1005120"/>
          </a:xfrm>
          <a:prstGeom prst="roundRect">
            <a:avLst>
              <a:gd name="adj" fmla="val 7273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5120640" y="1280160"/>
            <a:ext cx="1416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المسار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5120640" y="160020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خطوات مرتّبة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+ </a:t>
            </a: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موارد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8"/>
          <p:cNvSpPr/>
          <p:nvPr/>
        </p:nvSpPr>
        <p:spPr>
          <a:xfrm>
            <a:off x="6537960" y="1682640"/>
            <a:ext cx="13644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-26640" rIns="684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9"/>
          <p:cNvSpPr/>
          <p:nvPr/>
        </p:nvSpPr>
        <p:spPr>
          <a:xfrm>
            <a:off x="6675120" y="1188720"/>
            <a:ext cx="1416600" cy="1005120"/>
          </a:xfrm>
          <a:prstGeom prst="roundRect">
            <a:avLst>
              <a:gd name="adj" fmla="val 7273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0"/>
          <p:cNvSpPr/>
          <p:nvPr/>
        </p:nvSpPr>
        <p:spPr>
          <a:xfrm>
            <a:off x="6675120" y="1280160"/>
            <a:ext cx="1416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التقدم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1"/>
          <p:cNvSpPr/>
          <p:nvPr/>
        </p:nvSpPr>
        <p:spPr>
          <a:xfrm>
            <a:off x="6675120" y="160020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إكمال خطوة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→ </a:t>
            </a: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تحديث الكفاءة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2"/>
          <p:cNvSpPr/>
          <p:nvPr/>
        </p:nvSpPr>
        <p:spPr>
          <a:xfrm>
            <a:off x="457200" y="251460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التوليد ثابت النتيجة: يعتمد على بيانات المهارات، ويتجدد عند أي تغيير.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3"/>
          <p:cNvSpPr/>
          <p:nvPr/>
        </p:nvSpPr>
        <p:spPr>
          <a:xfrm>
            <a:off x="457200" y="295344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يحترم تسلسل المتطلبات: لا تظهر مهارة قبل إتمام متطلباتها.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4"/>
          <p:cNvSpPr/>
          <p:nvPr/>
        </p:nvSpPr>
        <p:spPr>
          <a:xfrm>
            <a:off x="457200" y="339228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يمنع التكرار: المهارات المتقنة أو المدرجة في المسار تُستبعد تلقائيًا.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5"/>
          <p:cNvSpPr/>
          <p:nvPr/>
        </p:nvSpPr>
        <p:spPr>
          <a:xfrm>
            <a:off x="457200" y="383148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يدعم توليد مسار لمهارة واحدة مع متطلباتها.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٧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الذكاء الاصطناعي</a:t>
            </a:r>
            <a:r>
              <a:rPr lang="en-US" sz="28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 — </a:t>
            </a:r>
            <a:r>
              <a:rPr lang="en-US" sz="28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SS-AI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457200" y="1051560"/>
            <a:ext cx="8228880" cy="1005120"/>
          </a:xfrm>
          <a:prstGeom prst="roundRect">
            <a:avLst>
              <a:gd name="adj" fmla="val 7273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640080" y="111564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ذكاء اصطناعي يعمل محليًا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640080" y="1463040"/>
            <a:ext cx="7863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نموذج لغوي يعمل على الجهاز لتوليد اختبارات وشروح ومساعدة، دون الاعتماد على خدمة خارجية</a:t>
            </a:r>
            <a:r>
              <a:rPr lang="en-US" sz="1200" b="0" u="none" strike="noStrike">
                <a:solidFill>
                  <a:srgbClr val="FFFDF7"/>
                </a:solidFill>
                <a:effectLst/>
                <a:uFillTx/>
                <a:latin typeface="Tajaw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457200" y="2377440"/>
            <a:ext cx="255960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594360" y="245052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اختبارات ذكية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594360" y="2743200"/>
            <a:ext cx="2285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أسئلة اختيار من متعدد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مبنية على محتوى المهارة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قابلة للمراجعة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3154680" y="2377440"/>
            <a:ext cx="255960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3291840" y="245052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شرح المفاهيم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3291840" y="2743200"/>
            <a:ext cx="2285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شروح تفاعلية لكل مهارة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مع أمثلة عملية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حسب طلب المتعلم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5852160" y="2377440"/>
            <a:ext cx="255960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5989320" y="245052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مراجعة الكفاءة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5989320" y="2743200"/>
            <a:ext cx="2285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تعديل مستوى الكفاءة بمقدار ±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1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 عند ثقة عالية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ضمن مجال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0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كل تعديل موثّق في السجل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5"/>
          <p:cNvSpPr/>
          <p:nvPr/>
        </p:nvSpPr>
        <p:spPr>
          <a:xfrm>
            <a:off x="457200" y="3977640"/>
            <a:ext cx="8228880" cy="776520"/>
          </a:xfrm>
          <a:prstGeom prst="roundRect">
            <a:avLst>
              <a:gd name="adj" fmla="val 9412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6"/>
          <p:cNvSpPr/>
          <p:nvPr/>
        </p:nvSpPr>
        <p:spPr>
          <a:xfrm>
            <a:off x="640080" y="4023360"/>
            <a:ext cx="7863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قيود تضبط حدود الذكاء الاصطناعي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</a:rPr>
              <a:t>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7"/>
          <p:cNvSpPr/>
          <p:nvPr/>
        </p:nvSpPr>
        <p:spPr>
          <a:xfrm>
            <a:off x="640080" y="4297680"/>
            <a:ext cx="7863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معطّل افتراضيًا — لا يعمل إلا عند تفعيله يدويًا.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لا يغيّر تقييمات النظام الثابتة؛ يُسجّل فقط في سجل النشاط.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كل استخدام مُوثّق بالكامل لضمان الشفافية.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4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نموذج البيانات — نظرة شاملة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0" descr="docs/40-diagrams/skillsynth-erd.png"/>
          <p:cNvPicPr/>
          <p:nvPr/>
        </p:nvPicPr>
        <p:blipFill>
          <a:blip r:embed="rId1"/>
          <a:stretch/>
        </p:blipFill>
        <p:spPr>
          <a:xfrm>
            <a:off x="2008440" y="897840"/>
            <a:ext cx="5126400" cy="409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سياق الفهرس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(Catalog)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6583680" y="1051560"/>
            <a:ext cx="210240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6583680" y="109728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categories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6583680" y="1371600"/>
            <a:ext cx="21024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الاسم (فريد)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التصنيف الأب (يشير إلى الجدول نفسه)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الوصف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3840480" y="1051560"/>
            <a:ext cx="210240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3840480" y="109728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skills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3840480" y="1371600"/>
            <a:ext cx="21024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الاسم (فريد)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تصنيف المهارة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الصعوبة · الساعات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أيقونة · لون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9"/>
          <p:cNvSpPr/>
          <p:nvPr/>
        </p:nvSpPr>
        <p:spPr>
          <a:xfrm>
            <a:off x="1097280" y="1051560"/>
            <a:ext cx="210240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1097280" y="109728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skill_prereqs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1097280" y="1371600"/>
            <a:ext cx="21024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المهارة (مفتاح)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المتطلّب (مفتاح)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(</a:t>
            </a: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جدول ربط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6583680" y="2514600"/>
            <a:ext cx="210240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6583680" y="256032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job_roles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6583680" y="2834640"/>
            <a:ext cx="21024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المسمى (فريد)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المجال الوظيفي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الوصف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3840480" y="2514600"/>
            <a:ext cx="210240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3840480" y="256032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job_role_skills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3840480" y="2834640"/>
            <a:ext cx="21024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الدور (مفتاح)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المهارة (مفتاح)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(</a:t>
            </a: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جدول ربط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8"/>
          <p:cNvSpPr/>
          <p:nvPr/>
        </p:nvSpPr>
        <p:spPr>
          <a:xfrm>
            <a:off x="1097280" y="2514600"/>
            <a:ext cx="2102400" cy="12337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1097280" y="256032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resources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0"/>
          <p:cNvSpPr/>
          <p:nvPr/>
        </p:nvSpPr>
        <p:spPr>
          <a:xfrm>
            <a:off x="1097280" y="2834640"/>
            <a:ext cx="21024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العنوان · الرابط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النوع · اللغة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مجاني · رسمي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مهارة مرتبطة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5943600" y="1463040"/>
            <a:ext cx="639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1—*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3200400" y="1463040"/>
            <a:ext cx="639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1—*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3"/>
          <p:cNvSpPr/>
          <p:nvPr/>
        </p:nvSpPr>
        <p:spPr>
          <a:xfrm>
            <a:off x="3200400" y="2926080"/>
            <a:ext cx="639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M:N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5943600" y="2926080"/>
            <a:ext cx="639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1—*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5"/>
          <p:cNvSpPr/>
          <p:nvPr/>
        </p:nvSpPr>
        <p:spPr>
          <a:xfrm>
            <a:off x="457200" y="4023360"/>
            <a:ext cx="8228880" cy="776520"/>
          </a:xfrm>
          <a:prstGeom prst="roundRect">
            <a:avLst>
              <a:gd name="adj" fmla="val 9412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6"/>
          <p:cNvSpPr/>
          <p:nvPr/>
        </p:nvSpPr>
        <p:spPr>
          <a:xfrm>
            <a:off x="640080" y="4069080"/>
            <a:ext cx="786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قواعد سياق الفهرس: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7"/>
          <p:cNvSpPr/>
          <p:nvPr/>
        </p:nvSpPr>
        <p:spPr>
          <a:xfrm>
            <a:off x="640080" y="42976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الفئات تتفرع بنظام أب وابن: يبقى الأب عند حذف الابن.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حذف المهارة يحذف روابط متطلباتها، مع منع الدورات إنشائيًا.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المورد قد لا يرتبط بمهارة: يبقى متاحًا عند حذف المهارة.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سياق التقييم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(Assessment)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4754880" y="1051560"/>
            <a:ext cx="255960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4754880" y="109728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assessments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4754880" y="1371600"/>
            <a:ext cx="25596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مهارة مرتبطة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العنوان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درجة النجاح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وقت الإنشاء · التحديث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6"/>
          <p:cNvSpPr/>
          <p:nvPr/>
        </p:nvSpPr>
        <p:spPr>
          <a:xfrm>
            <a:off x="731520" y="1051560"/>
            <a:ext cx="255960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731520" y="109728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assessment_questions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731520" y="1371600"/>
            <a:ext cx="25596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الاختبار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الترتيب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السؤال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الخيارات (قائمة مرنة)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الإجابة الصحيحة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9"/>
          <p:cNvSpPr/>
          <p:nvPr/>
        </p:nvSpPr>
        <p:spPr>
          <a:xfrm>
            <a:off x="731520" y="2606040"/>
            <a:ext cx="255960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0"/>
          <p:cNvSpPr/>
          <p:nvPr/>
        </p:nvSpPr>
        <p:spPr>
          <a:xfrm>
            <a:off x="731520" y="265176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assessment_results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731520" y="2926080"/>
            <a:ext cx="25596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المستخدم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الاختبار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الدرجة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النجاح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وقت الإكمال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2"/>
          <p:cNvSpPr/>
          <p:nvPr/>
        </p:nvSpPr>
        <p:spPr>
          <a:xfrm>
            <a:off x="4754880" y="2606040"/>
            <a:ext cx="255960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4754880" y="265176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user_skills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4"/>
          <p:cNvSpPr/>
          <p:nvPr/>
        </p:nvSpPr>
        <p:spPr>
          <a:xfrm>
            <a:off x="4754880" y="2926080"/>
            <a:ext cx="25596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المستخدم (مفتاح)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المهارة (مفتاح)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مستوى الكفاءة (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0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5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آخر تقييم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3291840" y="146304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 — 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6"/>
          <p:cNvSpPr/>
          <p:nvPr/>
        </p:nvSpPr>
        <p:spPr>
          <a:xfrm>
            <a:off x="3291840" y="301752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 — 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7"/>
          <p:cNvSpPr/>
          <p:nvPr/>
        </p:nvSpPr>
        <p:spPr>
          <a:xfrm>
            <a:off x="3291840" y="214884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8A7B6C"/>
                </a:solidFill>
                <a:effectLst/>
                <a:uFillTx/>
                <a:latin typeface="Tajawal"/>
              </a:rPr>
              <a:t>التصحيح يُحدّث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8A7B6C"/>
                </a:solidFill>
                <a:effectLst/>
                <a:uFillTx/>
                <a:latin typeface="Tajawal"/>
              </a:rPr>
              <a:t>مستوى الكفاءة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8"/>
          <p:cNvSpPr/>
          <p:nvPr/>
        </p:nvSpPr>
        <p:spPr>
          <a:xfrm>
            <a:off x="457200" y="4206240"/>
            <a:ext cx="8228880" cy="685080"/>
          </a:xfrm>
          <a:prstGeom prst="roundRect">
            <a:avLst>
              <a:gd name="adj" fmla="val 10667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9"/>
          <p:cNvSpPr/>
          <p:nvPr/>
        </p:nvSpPr>
        <p:spPr>
          <a:xfrm>
            <a:off x="640080" y="4251960"/>
            <a:ext cx="7863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8A6520"/>
                </a:solidFill>
                <a:effectLst/>
                <a:uFillTx/>
                <a:latin typeface="Tajawal"/>
              </a:rPr>
              <a:t>التصحيح: الكفاءة = نسبة الإجابات الصحيحة مضروبة في 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5</a:t>
            </a:r>
            <a:r>
              <a:rPr lang="hi-IN" sz="1300" b="1" u="none" strike="noStrike">
                <a:solidFill>
                  <a:srgbClr val="8A6520"/>
                </a:solidFill>
                <a:effectLst/>
                <a:uFillTx/>
                <a:latin typeface="Tajawal"/>
              </a:rPr>
              <a:t>، ضمن مجال 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0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5</a:t>
            </a:r>
            <a:r>
              <a:rPr lang="en-US" sz="13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0"/>
          <p:cNvSpPr/>
          <p:nvPr/>
        </p:nvSpPr>
        <p:spPr>
          <a:xfrm>
            <a:off x="640080" y="4526280"/>
            <a:ext cx="7863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المهارات غير المجابة تحتفظ بمستواها السابق.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١١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سياق التعلّم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(Learning)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4754880" y="1051560"/>
            <a:ext cx="2559600" cy="1462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4754880" y="109728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paths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4754880" y="1371600"/>
            <a:ext cx="25596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المستخدم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العنوان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الدور المستهدف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الحالة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الوقت التقديري الكلي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وقت الإنشاء · التحديث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حذف غير نهائي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731520" y="1051560"/>
            <a:ext cx="2559600" cy="1462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731520" y="109728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path_steps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731520" y="1371600"/>
            <a:ext cx="25596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المسار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مهارة مرتبطة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الترتيب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العنوان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الوصف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الوقت التقديري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الموارد (قائمة مرنة)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الاختبارات (قائمة مرنة)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731520" y="2697480"/>
            <a:ext cx="2559600" cy="1462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731520" y="274320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step_progress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731520" y="3017520"/>
            <a:ext cx="25596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المستخدم (مفتاح)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الخطوة (مفتاح)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وقت الإكمال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الدرجة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3291840" y="146304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 — 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3"/>
          <p:cNvSpPr/>
          <p:nvPr/>
        </p:nvSpPr>
        <p:spPr>
          <a:xfrm>
            <a:off x="3291840" y="310896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1 — 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4754880" y="2834640"/>
            <a:ext cx="2559600" cy="1370880"/>
          </a:xfrm>
          <a:prstGeom prst="roundRect">
            <a:avLst>
              <a:gd name="adj" fmla="val 5333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4846320" y="2880360"/>
            <a:ext cx="2376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قواعد التعلّم</a:t>
            </a:r>
            <a:r>
              <a:rPr lang="en-US" sz="1200" b="1" u="none" strike="noStrike">
                <a:solidFill>
                  <a:srgbClr val="8A6520"/>
                </a:solidFill>
                <a:effectLst/>
                <a:uFillTx/>
                <a:latin typeface="Tajawal"/>
                <a:ea typeface="Tajawal"/>
              </a:rPr>
              <a:t>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4846320" y="3154680"/>
            <a:ext cx="23767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حذف المسار يحذف خطواته وتقدمه.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إتمام الخطوة يُسجَّل تلقائيًا.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التراجع يلغي تسجيل الخطوة.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التقدم خاص بكل مستخدم على حدة.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١٢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سياق التفاعل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2600" b="1" u="none" strike="noStrike">
                <a:solidFill>
                  <a:srgbClr val="2A2521"/>
                </a:solidFill>
                <a:effectLst/>
                <a:uFillTx/>
                <a:latin typeface="Tajawal"/>
                <a:ea typeface="Tajawal"/>
              </a:rPr>
              <a:t>(Engagement)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1371600" y="1097280"/>
            <a:ext cx="6400080" cy="2010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1371600" y="1188720"/>
            <a:ext cx="6400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activity_log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1554480" y="1554480"/>
            <a:ext cx="6034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سجل يستقبل الأحداث فقط، ولا يُعدَّل ولا يُحذف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1443600" y="2194560"/>
            <a:ext cx="1416600" cy="73080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1443600" y="2240280"/>
            <a:ext cx="1416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auth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8"/>
          <p:cNvSpPr/>
          <p:nvPr/>
        </p:nvSpPr>
        <p:spPr>
          <a:xfrm>
            <a:off x="1489320" y="2468880"/>
            <a:ext cx="1325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تسجيل الدخول، الخروج، تغيير كلمة المرور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9"/>
          <p:cNvSpPr/>
          <p:nvPr/>
        </p:nvSpPr>
        <p:spPr>
          <a:xfrm>
            <a:off x="2952360" y="2194560"/>
            <a:ext cx="1416600" cy="73080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2952360" y="2240280"/>
            <a:ext cx="1416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audit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1"/>
          <p:cNvSpPr/>
          <p:nvPr/>
        </p:nvSpPr>
        <p:spPr>
          <a:xfrm>
            <a:off x="2998080" y="2468880"/>
            <a:ext cx="1325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تعديل أو حذف بيانات إدارية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2"/>
          <p:cNvSpPr/>
          <p:nvPr/>
        </p:nvSpPr>
        <p:spPr>
          <a:xfrm>
            <a:off x="4461120" y="2194560"/>
            <a:ext cx="1416600" cy="73080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3"/>
          <p:cNvSpPr/>
          <p:nvPr/>
        </p:nvSpPr>
        <p:spPr>
          <a:xfrm>
            <a:off x="4497120" y="2240280"/>
            <a:ext cx="1416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4"/>
          <p:cNvSpPr/>
          <p:nvPr/>
        </p:nvSpPr>
        <p:spPr>
          <a:xfrm>
            <a:off x="4506840" y="2468880"/>
            <a:ext cx="1325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اكتمال خطوة، توليد مسار، اختبار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5"/>
          <p:cNvSpPr/>
          <p:nvPr/>
        </p:nvSpPr>
        <p:spPr>
          <a:xfrm>
            <a:off x="6005880" y="2194560"/>
            <a:ext cx="1416600" cy="73080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6"/>
          <p:cNvSpPr/>
          <p:nvPr/>
        </p:nvSpPr>
        <p:spPr>
          <a:xfrm>
            <a:off x="6005880" y="2240280"/>
            <a:ext cx="1416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system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7"/>
          <p:cNvSpPr/>
          <p:nvPr/>
        </p:nvSpPr>
        <p:spPr>
          <a:xfrm>
            <a:off x="6051600" y="2468880"/>
            <a:ext cx="1325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8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نسخ احتياطي، صحة النظام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8"/>
          <p:cNvSpPr/>
          <p:nvPr/>
        </p:nvSpPr>
        <p:spPr>
          <a:xfrm>
            <a:off x="457200" y="3291840"/>
            <a:ext cx="8228880" cy="1553760"/>
          </a:xfrm>
          <a:prstGeom prst="roundRect">
            <a:avLst>
              <a:gd name="adj" fmla="val 4706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9"/>
          <p:cNvSpPr/>
          <p:nvPr/>
        </p:nvSpPr>
        <p:spPr>
          <a:xfrm>
            <a:off x="640080" y="3337560"/>
            <a:ext cx="7863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الخصائص التفصيلية لسجل النشاط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0"/>
          <p:cNvSpPr/>
          <p:nvPr/>
        </p:nvSpPr>
        <p:spPr>
          <a:xfrm>
            <a:off x="640080" y="3611880"/>
            <a:ext cx="786312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يُكتب ولا يُعدَّل ولا يُحذف — سجل ثابت.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يحتفظ ببصمة كاملة: المستخدم، الفعل، الكيان، الوقت، والعنوان.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يُستخدم للتدقيق وتحليلات التعلّم وتوثيق تعديلات الذكاء الاصطناعي.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1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مفهرس على المستخدم والوقت لتسريع الاستعلام.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١٣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حالات الاستخدام — المتعلم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3"/>
          <p:cNvSpPr/>
          <p:nvPr/>
        </p:nvSpPr>
        <p:spPr>
          <a:xfrm>
            <a:off x="457200" y="1188720"/>
            <a:ext cx="1645200" cy="3199680"/>
          </a:xfrm>
          <a:prstGeom prst="roundRect">
            <a:avLst>
              <a:gd name="adj" fmla="val 4444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4"/>
          <p:cNvSpPr/>
          <p:nvPr/>
        </p:nvSpPr>
        <p:spPr>
          <a:xfrm>
            <a:off x="457200" y="1280160"/>
            <a:ext cx="1645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المتعلم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(UC)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5"/>
          <p:cNvSpPr/>
          <p:nvPr/>
        </p:nvSpPr>
        <p:spPr>
          <a:xfrm>
            <a:off x="457200" y="182880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طالب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6"/>
          <p:cNvSpPr/>
          <p:nvPr/>
        </p:nvSpPr>
        <p:spPr>
          <a:xfrm>
            <a:off x="2743200" y="109728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7"/>
          <p:cNvSpPr/>
          <p:nvPr/>
        </p:nvSpPr>
        <p:spPr>
          <a:xfrm>
            <a:off x="2834640" y="114300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8"/>
          <p:cNvSpPr/>
          <p:nvPr/>
        </p:nvSpPr>
        <p:spPr>
          <a:xfrm>
            <a:off x="3337560" y="1143000"/>
            <a:ext cx="155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تسجيل الدخول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9"/>
          <p:cNvSpPr/>
          <p:nvPr/>
        </p:nvSpPr>
        <p:spPr>
          <a:xfrm>
            <a:off x="2834640" y="141732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إنشاء حساب أو دخول آمن بكلمة مرور، ويتأمّن بعد 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5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 محاولات خاطئة.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0"/>
          <p:cNvSpPr/>
          <p:nvPr/>
        </p:nvSpPr>
        <p:spPr>
          <a:xfrm>
            <a:off x="5303520" y="109728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1"/>
          <p:cNvSpPr/>
          <p:nvPr/>
        </p:nvSpPr>
        <p:spPr>
          <a:xfrm>
            <a:off x="5394960" y="114300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2"/>
          <p:cNvSpPr/>
          <p:nvPr/>
        </p:nvSpPr>
        <p:spPr>
          <a:xfrm>
            <a:off x="5897880" y="1143000"/>
            <a:ext cx="155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إكمال المساعد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3"/>
          <p:cNvSpPr/>
          <p:nvPr/>
        </p:nvSpPr>
        <p:spPr>
          <a:xfrm>
            <a:off x="5394960" y="141732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اختيار دور مهني وتفضيلات → توليد مسار شخصي.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4"/>
          <p:cNvSpPr/>
          <p:nvPr/>
        </p:nvSpPr>
        <p:spPr>
          <a:xfrm>
            <a:off x="2743200" y="205740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5"/>
          <p:cNvSpPr/>
          <p:nvPr/>
        </p:nvSpPr>
        <p:spPr>
          <a:xfrm>
            <a:off x="2834640" y="210312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6"/>
          <p:cNvSpPr/>
          <p:nvPr/>
        </p:nvSpPr>
        <p:spPr>
          <a:xfrm>
            <a:off x="3337560" y="2103120"/>
            <a:ext cx="155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إجراء التقييم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7"/>
          <p:cNvSpPr/>
          <p:nvPr/>
        </p:nvSpPr>
        <p:spPr>
          <a:xfrm>
            <a:off x="2834640" y="237744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اختبار مهارة أو دور → نتيجة فورية وتحديث الكفاءة.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8"/>
          <p:cNvSpPr/>
          <p:nvPr/>
        </p:nvSpPr>
        <p:spPr>
          <a:xfrm>
            <a:off x="5303520" y="205740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5394960" y="210312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0"/>
          <p:cNvSpPr/>
          <p:nvPr/>
        </p:nvSpPr>
        <p:spPr>
          <a:xfrm>
            <a:off x="5897880" y="2103120"/>
            <a:ext cx="155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إكمال الخطوة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1"/>
          <p:cNvSpPr/>
          <p:nvPr/>
        </p:nvSpPr>
        <p:spPr>
          <a:xfrm>
            <a:off x="5394960" y="237744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إكمال أو تراجع خطوة في المسار → تحديث التقدم.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2"/>
          <p:cNvSpPr/>
          <p:nvPr/>
        </p:nvSpPr>
        <p:spPr>
          <a:xfrm>
            <a:off x="2743200" y="301752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3"/>
          <p:cNvSpPr/>
          <p:nvPr/>
        </p:nvSpPr>
        <p:spPr>
          <a:xfrm>
            <a:off x="2834640" y="30632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4"/>
          <p:cNvSpPr/>
          <p:nvPr/>
        </p:nvSpPr>
        <p:spPr>
          <a:xfrm>
            <a:off x="3337560" y="3063240"/>
            <a:ext cx="155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تصفح الكتالوج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5"/>
          <p:cNvSpPr/>
          <p:nvPr/>
        </p:nvSpPr>
        <p:spPr>
          <a:xfrm>
            <a:off x="2834640" y="333756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استكشاف الفئات والمهارات وتفاصيلها + توليد مسار فردي.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6"/>
          <p:cNvSpPr/>
          <p:nvPr/>
        </p:nvSpPr>
        <p:spPr>
          <a:xfrm>
            <a:off x="5303520" y="301752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7"/>
          <p:cNvSpPr/>
          <p:nvPr/>
        </p:nvSpPr>
        <p:spPr>
          <a:xfrm>
            <a:off x="5394960" y="30632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8"/>
          <p:cNvSpPr/>
          <p:nvPr/>
        </p:nvSpPr>
        <p:spPr>
          <a:xfrm>
            <a:off x="5897880" y="3063240"/>
            <a:ext cx="155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متابعة التقدم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9"/>
          <p:cNvSpPr/>
          <p:nvPr/>
        </p:nvSpPr>
        <p:spPr>
          <a:xfrm>
            <a:off x="5394960" y="333756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لوحة تقدّم، تحليلات، وسجل نشاط.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30"/>
          <p:cNvSpPr/>
          <p:nvPr/>
        </p:nvSpPr>
        <p:spPr>
          <a:xfrm>
            <a:off x="2560320" y="1005840"/>
            <a:ext cx="5302800" cy="2879640"/>
          </a:xfrm>
          <a:prstGeom prst="rect">
            <a:avLst/>
          </a:prstGeom>
          <a:noFill/>
          <a:ln w="15240">
            <a:solidFill>
              <a:srgbClr val="8A7B6C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1"/>
          <p:cNvSpPr/>
          <p:nvPr/>
        </p:nvSpPr>
        <p:spPr>
          <a:xfrm>
            <a:off x="4114800" y="77724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8A7B6C"/>
                </a:solidFill>
                <a:effectLst/>
                <a:uFillTx/>
                <a:latin typeface="Tajawal"/>
                <a:cs typeface="Tajawal"/>
              </a:rPr>
              <a:t>نظام </a:t>
            </a: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SkillSynth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١٤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حالات الاستخدام — المدير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457200" y="1188720"/>
            <a:ext cx="1645200" cy="3199680"/>
          </a:xfrm>
          <a:prstGeom prst="roundRect">
            <a:avLst>
              <a:gd name="adj" fmla="val 4444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457200" y="1280160"/>
            <a:ext cx="1645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المدير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(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Admin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ajawal"/>
                <a:ea typeface="Tajawal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457200" y="182880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</a:rPr>
              <a:t>صلاحيات إدارية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</a:rPr>
              <a:t>لإدارة النظام كاملًا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2743200" y="109728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7"/>
          <p:cNvSpPr/>
          <p:nvPr/>
        </p:nvSpPr>
        <p:spPr>
          <a:xfrm>
            <a:off x="2834640" y="114300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3337560" y="1143000"/>
            <a:ext cx="155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إدارة المستخدمين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9"/>
          <p:cNvSpPr/>
          <p:nvPr/>
        </p:nvSpPr>
        <p:spPr>
          <a:xfrm>
            <a:off x="2834640" y="141732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عرض وتعديل وحذف المستخدمين مع حماية حساب المدير.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0"/>
          <p:cNvSpPr/>
          <p:nvPr/>
        </p:nvSpPr>
        <p:spPr>
          <a:xfrm>
            <a:off x="5303520" y="109728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1"/>
          <p:cNvSpPr/>
          <p:nvPr/>
        </p:nvSpPr>
        <p:spPr>
          <a:xfrm>
            <a:off x="5394960" y="114300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2"/>
          <p:cNvSpPr/>
          <p:nvPr/>
        </p:nvSpPr>
        <p:spPr>
          <a:xfrm>
            <a:off x="5897880" y="1143000"/>
            <a:ext cx="155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إدارة المهارات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3"/>
          <p:cNvSpPr/>
          <p:nvPr/>
        </p:nvSpPr>
        <p:spPr>
          <a:xfrm>
            <a:off x="5394960" y="141732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إضافة وتعديل وعرض المهارات والفئات والأدوار.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4"/>
          <p:cNvSpPr/>
          <p:nvPr/>
        </p:nvSpPr>
        <p:spPr>
          <a:xfrm>
            <a:off x="2743200" y="205740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5"/>
          <p:cNvSpPr/>
          <p:nvPr/>
        </p:nvSpPr>
        <p:spPr>
          <a:xfrm>
            <a:off x="2834640" y="210312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3200400" y="2103120"/>
            <a:ext cx="1690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إدارة الموارد والاختبارات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7"/>
          <p:cNvSpPr/>
          <p:nvPr/>
        </p:nvSpPr>
        <p:spPr>
          <a:xfrm>
            <a:off x="2834640" y="252144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إضافة وتعديل وحذف الموارد وبنوك الأسئلة</a:t>
            </a:r>
            <a:r>
              <a:rPr lang="en-US" sz="9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8"/>
          <p:cNvSpPr/>
          <p:nvPr/>
        </p:nvSpPr>
        <p:spPr>
          <a:xfrm>
            <a:off x="5303520" y="205740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9"/>
          <p:cNvSpPr/>
          <p:nvPr/>
        </p:nvSpPr>
        <p:spPr>
          <a:xfrm>
            <a:off x="5394960" y="210312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0"/>
          <p:cNvSpPr/>
          <p:nvPr/>
        </p:nvSpPr>
        <p:spPr>
          <a:xfrm>
            <a:off x="5897880" y="2103120"/>
            <a:ext cx="155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الإبلاغ والنسخ الاحتياطي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1"/>
          <p:cNvSpPr/>
          <p:nvPr/>
        </p:nvSpPr>
        <p:spPr>
          <a:xfrm>
            <a:off x="5394960" y="248544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تقارير مجمعة، نسخ احتياطي، وفحص سلامة النظام.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2"/>
          <p:cNvSpPr/>
          <p:nvPr/>
        </p:nvSpPr>
        <p:spPr>
          <a:xfrm>
            <a:off x="2743200" y="301752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3"/>
          <p:cNvSpPr/>
          <p:nvPr/>
        </p:nvSpPr>
        <p:spPr>
          <a:xfrm>
            <a:off x="2834640" y="30632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4"/>
          <p:cNvSpPr/>
          <p:nvPr/>
        </p:nvSpPr>
        <p:spPr>
          <a:xfrm>
            <a:off x="3337560" y="3063240"/>
            <a:ext cx="155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سجل النشاط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5"/>
          <p:cNvSpPr/>
          <p:nvPr/>
        </p:nvSpPr>
        <p:spPr>
          <a:xfrm>
            <a:off x="2834640" y="333756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استعراض الأحداث: الدخول، التعديلات، والتعلم.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6"/>
          <p:cNvSpPr/>
          <p:nvPr/>
        </p:nvSpPr>
        <p:spPr>
          <a:xfrm>
            <a:off x="5303520" y="3017520"/>
            <a:ext cx="2285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7"/>
          <p:cNvSpPr/>
          <p:nvPr/>
        </p:nvSpPr>
        <p:spPr>
          <a:xfrm>
            <a:off x="5394960" y="30632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UC12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8"/>
          <p:cNvSpPr/>
          <p:nvPr/>
        </p:nvSpPr>
        <p:spPr>
          <a:xfrm>
            <a:off x="5897880" y="3063240"/>
            <a:ext cx="155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أعلام الميزات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9"/>
          <p:cNvSpPr/>
          <p:nvPr/>
        </p:nvSpPr>
        <p:spPr>
          <a:xfrm>
            <a:off x="5394960" y="3337560"/>
            <a:ext cx="2102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تشغيل أو إيقاف الميزات — عرض فقط.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0"/>
          <p:cNvSpPr/>
          <p:nvPr/>
        </p:nvSpPr>
        <p:spPr>
          <a:xfrm>
            <a:off x="2560320" y="1005840"/>
            <a:ext cx="5302800" cy="2879640"/>
          </a:xfrm>
          <a:prstGeom prst="rect">
            <a:avLst/>
          </a:prstGeom>
          <a:noFill/>
          <a:ln w="15240">
            <a:solidFill>
              <a:srgbClr val="8A7B6C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1"/>
          <p:cNvSpPr/>
          <p:nvPr/>
        </p:nvSpPr>
        <p:spPr>
          <a:xfrm>
            <a:off x="4114800" y="77724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8A7B6C"/>
                </a:solidFill>
                <a:effectLst/>
                <a:uFillTx/>
                <a:latin typeface="Tajawal"/>
                <a:cs typeface="Tajawal"/>
              </a:rPr>
              <a:t>نظام </a:t>
            </a:r>
            <a:r>
              <a:rPr lang="en-US" sz="1000" b="0" u="none" strike="noStrike">
                <a:solidFill>
                  <a:srgbClr val="8A7B6C"/>
                </a:solidFill>
                <a:effectLst/>
                <a:uFillTx/>
                <a:latin typeface="Tajawal"/>
                <a:ea typeface="Tajawal"/>
              </a:rPr>
              <a:t>SkillSynth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32"/>
          <p:cNvSpPr/>
          <p:nvPr/>
        </p:nvSpPr>
        <p:spPr>
          <a:xfrm>
            <a:off x="2560320" y="4023360"/>
            <a:ext cx="5302800" cy="776520"/>
          </a:xfrm>
          <a:prstGeom prst="roundRect">
            <a:avLst>
              <a:gd name="adj" fmla="val 9412"/>
            </a:avLst>
          </a:prstGeom>
          <a:solidFill>
            <a:srgbClr val="FBF6E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3"/>
          <p:cNvSpPr/>
          <p:nvPr/>
        </p:nvSpPr>
        <p:spPr>
          <a:xfrm>
            <a:off x="2651760" y="4114800"/>
            <a:ext cx="5119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8A6520"/>
                </a:solidFill>
                <a:effectLst/>
                <a:uFillTx/>
                <a:latin typeface="Tajawal"/>
                <a:cs typeface="Tajawal"/>
              </a:rPr>
              <a:t>حذف مقيد: المهارات والأدوار المرتبطة بكيانات لا تُحذف إلا بعد إزالة تلك الروابط.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سيناريو شامل — رحلة المتعلّم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502920" y="1097280"/>
            <a:ext cx="1050840" cy="1508040"/>
          </a:xfrm>
          <a:prstGeom prst="roundRect">
            <a:avLst>
              <a:gd name="adj" fmla="val 6957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502920" y="114300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١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502920" y="146304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التسجيل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502920" y="1783080"/>
            <a:ext cx="1050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إنشاء حساب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باسم أو بريد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1554480" y="1783080"/>
            <a:ext cx="10908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-26640" rIns="5472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8"/>
          <p:cNvSpPr/>
          <p:nvPr/>
        </p:nvSpPr>
        <p:spPr>
          <a:xfrm>
            <a:off x="1664280" y="1097280"/>
            <a:ext cx="1050840" cy="1508040"/>
          </a:xfrm>
          <a:prstGeom prst="roundRect">
            <a:avLst>
              <a:gd name="adj" fmla="val 695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1664280" y="114300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0"/>
          <p:cNvSpPr/>
          <p:nvPr/>
        </p:nvSpPr>
        <p:spPr>
          <a:xfrm>
            <a:off x="1664280" y="146304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الملف الشخصي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1"/>
          <p:cNvSpPr/>
          <p:nvPr/>
        </p:nvSpPr>
        <p:spPr>
          <a:xfrm>
            <a:off x="1664280" y="1819080"/>
            <a:ext cx="1050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تحديد الخبرات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المسبقة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2"/>
          <p:cNvSpPr/>
          <p:nvPr/>
        </p:nvSpPr>
        <p:spPr>
          <a:xfrm>
            <a:off x="2715840" y="1783080"/>
            <a:ext cx="10908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-26640" rIns="5472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3"/>
          <p:cNvSpPr/>
          <p:nvPr/>
        </p:nvSpPr>
        <p:spPr>
          <a:xfrm>
            <a:off x="2825640" y="1097280"/>
            <a:ext cx="1050840" cy="1508040"/>
          </a:xfrm>
          <a:prstGeom prst="roundRect">
            <a:avLst>
              <a:gd name="adj" fmla="val 6957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4"/>
          <p:cNvSpPr/>
          <p:nvPr/>
        </p:nvSpPr>
        <p:spPr>
          <a:xfrm>
            <a:off x="2825640" y="114300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٣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5"/>
          <p:cNvSpPr/>
          <p:nvPr/>
        </p:nvSpPr>
        <p:spPr>
          <a:xfrm>
            <a:off x="2825640" y="146304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المساعد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6"/>
          <p:cNvSpPr/>
          <p:nvPr/>
        </p:nvSpPr>
        <p:spPr>
          <a:xfrm>
            <a:off x="2825640" y="1783080"/>
            <a:ext cx="1050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اختيار الدور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+ </a:t>
            </a: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التفضيلات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7"/>
          <p:cNvSpPr/>
          <p:nvPr/>
        </p:nvSpPr>
        <p:spPr>
          <a:xfrm>
            <a:off x="3877200" y="1783080"/>
            <a:ext cx="10908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-26640" rIns="5472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8"/>
          <p:cNvSpPr/>
          <p:nvPr/>
        </p:nvSpPr>
        <p:spPr>
          <a:xfrm>
            <a:off x="3986640" y="1097280"/>
            <a:ext cx="1050840" cy="1508040"/>
          </a:xfrm>
          <a:prstGeom prst="roundRect">
            <a:avLst>
              <a:gd name="adj" fmla="val 695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9"/>
          <p:cNvSpPr/>
          <p:nvPr/>
        </p:nvSpPr>
        <p:spPr>
          <a:xfrm>
            <a:off x="3986640" y="114300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٤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0"/>
          <p:cNvSpPr/>
          <p:nvPr/>
        </p:nvSpPr>
        <p:spPr>
          <a:xfrm>
            <a:off x="3986640" y="146304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التوليد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1"/>
          <p:cNvSpPr/>
          <p:nvPr/>
        </p:nvSpPr>
        <p:spPr>
          <a:xfrm>
            <a:off x="3986640" y="1783080"/>
            <a:ext cx="1050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مسار شخصي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(Topo sorted)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2"/>
          <p:cNvSpPr/>
          <p:nvPr/>
        </p:nvSpPr>
        <p:spPr>
          <a:xfrm>
            <a:off x="5038200" y="1783080"/>
            <a:ext cx="10908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-26640" rIns="5472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3"/>
          <p:cNvSpPr/>
          <p:nvPr/>
        </p:nvSpPr>
        <p:spPr>
          <a:xfrm>
            <a:off x="5148000" y="1097280"/>
            <a:ext cx="1050840" cy="1508040"/>
          </a:xfrm>
          <a:prstGeom prst="roundRect">
            <a:avLst>
              <a:gd name="adj" fmla="val 6957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4"/>
          <p:cNvSpPr/>
          <p:nvPr/>
        </p:nvSpPr>
        <p:spPr>
          <a:xfrm>
            <a:off x="5148000" y="114300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٥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5"/>
          <p:cNvSpPr/>
          <p:nvPr/>
        </p:nvSpPr>
        <p:spPr>
          <a:xfrm>
            <a:off x="5148000" y="146304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التقييم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6"/>
          <p:cNvSpPr/>
          <p:nvPr/>
        </p:nvSpPr>
        <p:spPr>
          <a:xfrm>
            <a:off x="5148000" y="1783080"/>
            <a:ext cx="1050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اختبار كل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مهارة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7"/>
          <p:cNvSpPr/>
          <p:nvPr/>
        </p:nvSpPr>
        <p:spPr>
          <a:xfrm>
            <a:off x="6199560" y="1783080"/>
            <a:ext cx="10908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-26640" rIns="5472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8"/>
          <p:cNvSpPr/>
          <p:nvPr/>
        </p:nvSpPr>
        <p:spPr>
          <a:xfrm>
            <a:off x="6309360" y="1097280"/>
            <a:ext cx="1050840" cy="1508040"/>
          </a:xfrm>
          <a:prstGeom prst="roundRect">
            <a:avLst>
              <a:gd name="adj" fmla="val 695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9"/>
          <p:cNvSpPr/>
          <p:nvPr/>
        </p:nvSpPr>
        <p:spPr>
          <a:xfrm>
            <a:off x="6309360" y="114300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٦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0"/>
          <p:cNvSpPr/>
          <p:nvPr/>
        </p:nvSpPr>
        <p:spPr>
          <a:xfrm>
            <a:off x="6309360" y="146304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التعلّم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31"/>
          <p:cNvSpPr/>
          <p:nvPr/>
        </p:nvSpPr>
        <p:spPr>
          <a:xfrm>
            <a:off x="6309360" y="1783080"/>
            <a:ext cx="1050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إكمال الخطوات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واحدًا واحدًا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32"/>
          <p:cNvSpPr/>
          <p:nvPr/>
        </p:nvSpPr>
        <p:spPr>
          <a:xfrm>
            <a:off x="7360920" y="1783080"/>
            <a:ext cx="109080" cy="17640"/>
          </a:xfrm>
          <a:prstGeom prst="rect">
            <a:avLst/>
          </a:prstGeom>
          <a:solidFill>
            <a:srgbClr val="8A7B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-26640" rIns="5472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3"/>
          <p:cNvSpPr/>
          <p:nvPr/>
        </p:nvSpPr>
        <p:spPr>
          <a:xfrm>
            <a:off x="7470720" y="1097280"/>
            <a:ext cx="1050840" cy="1508040"/>
          </a:xfrm>
          <a:prstGeom prst="roundRect">
            <a:avLst>
              <a:gd name="adj" fmla="val 6957"/>
            </a:avLst>
          </a:prstGeom>
          <a:solidFill>
            <a:srgbClr val="B5862E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34"/>
          <p:cNvSpPr/>
          <p:nvPr/>
        </p:nvSpPr>
        <p:spPr>
          <a:xfrm>
            <a:off x="7470720" y="114300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٧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35"/>
          <p:cNvSpPr/>
          <p:nvPr/>
        </p:nvSpPr>
        <p:spPr>
          <a:xfrm>
            <a:off x="7470720" y="1463040"/>
            <a:ext cx="1050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التقدم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6"/>
          <p:cNvSpPr/>
          <p:nvPr/>
        </p:nvSpPr>
        <p:spPr>
          <a:xfrm>
            <a:off x="7470720" y="1783080"/>
            <a:ext cx="1050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متابعة الكفاءة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+ </a:t>
            </a:r>
            <a:r>
              <a:rPr lang="hi-IN" sz="9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التحليلات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7"/>
          <p:cNvSpPr/>
          <p:nvPr/>
        </p:nvSpPr>
        <p:spPr>
          <a:xfrm>
            <a:off x="457200" y="28803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8A7B6C"/>
                </a:solidFill>
                <a:effectLst/>
                <a:uFillTx/>
                <a:latin typeface="Tajawal"/>
              </a:rPr>
              <a:t>بالتوازي مع ذلك: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8"/>
          <p:cNvSpPr/>
          <p:nvPr/>
        </p:nvSpPr>
        <p:spPr>
          <a:xfrm>
            <a:off x="457200" y="31089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المدير يدير المحتوى والمستخدمين — كل تغيير يظهر للمتعلم فورًا عبر البث المباشر.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39"/>
          <p:cNvSpPr/>
          <p:nvPr/>
        </p:nvSpPr>
        <p:spPr>
          <a:xfrm>
            <a:off x="1371600" y="3520440"/>
            <a:ext cx="6400080" cy="1370880"/>
          </a:xfrm>
          <a:prstGeom prst="roundRect">
            <a:avLst>
              <a:gd name="adj" fmla="val 5333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0"/>
          <p:cNvSpPr/>
          <p:nvPr/>
        </p:nvSpPr>
        <p:spPr>
          <a:xfrm>
            <a:off x="1554480" y="3566160"/>
            <a:ext cx="6034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إشعارات فورية للمتعلم: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1"/>
          <p:cNvSpPr/>
          <p:nvPr/>
        </p:nvSpPr>
        <p:spPr>
          <a:xfrm>
            <a:off x="1554480" y="3840480"/>
            <a:ext cx="6034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مسار جديد جاهز.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نتيجة تقييم جديدة.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تحديث مستوى الكفاءة.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⠿</a:t>
            </a: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 تصل لحظيًا دون إعادة تحميل الصفحة.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6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السياقات الفرعية الأربعة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3"/>
          <p:cNvSpPr/>
          <p:nvPr/>
        </p:nvSpPr>
        <p:spPr>
          <a:xfrm>
            <a:off x="4754880" y="1051560"/>
            <a:ext cx="3931200" cy="1828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4"/>
          <p:cNvSpPr/>
          <p:nvPr/>
        </p:nvSpPr>
        <p:spPr>
          <a:xfrm>
            <a:off x="4892040" y="114300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الفهرس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(Catalog)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5"/>
          <p:cNvSpPr/>
          <p:nvPr/>
        </p:nvSpPr>
        <p:spPr>
          <a:xfrm>
            <a:off x="4892040" y="1463040"/>
            <a:ext cx="36568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categories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skill_prerequisites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job_roles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job_role_skills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resources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6"/>
          <p:cNvSpPr/>
          <p:nvPr/>
        </p:nvSpPr>
        <p:spPr>
          <a:xfrm>
            <a:off x="457200" y="1051560"/>
            <a:ext cx="3931200" cy="1828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7"/>
          <p:cNvSpPr/>
          <p:nvPr/>
        </p:nvSpPr>
        <p:spPr>
          <a:xfrm>
            <a:off x="594360" y="114300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التقييم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(Assessment)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8"/>
          <p:cNvSpPr/>
          <p:nvPr/>
        </p:nvSpPr>
        <p:spPr>
          <a:xfrm>
            <a:off x="594360" y="1463040"/>
            <a:ext cx="36568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assessments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assessment_questions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assessment_results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user_skills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9"/>
          <p:cNvSpPr/>
          <p:nvPr/>
        </p:nvSpPr>
        <p:spPr>
          <a:xfrm>
            <a:off x="4754880" y="3154680"/>
            <a:ext cx="3931200" cy="1462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0"/>
          <p:cNvSpPr/>
          <p:nvPr/>
        </p:nvSpPr>
        <p:spPr>
          <a:xfrm>
            <a:off x="4892040" y="32461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التعلّم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(Learning)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1"/>
          <p:cNvSpPr/>
          <p:nvPr/>
        </p:nvSpPr>
        <p:spPr>
          <a:xfrm>
            <a:off x="4892040" y="3566160"/>
            <a:ext cx="3656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paths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path_steps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step_progress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2"/>
          <p:cNvSpPr/>
          <p:nvPr/>
        </p:nvSpPr>
        <p:spPr>
          <a:xfrm>
            <a:off x="457200" y="3154680"/>
            <a:ext cx="3931200" cy="1462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3"/>
          <p:cNvSpPr/>
          <p:nvPr/>
        </p:nvSpPr>
        <p:spPr>
          <a:xfrm>
            <a:off x="594360" y="32461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التفاعل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(Engagement)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4"/>
          <p:cNvSpPr/>
          <p:nvPr/>
        </p:nvSpPr>
        <p:spPr>
          <a:xfrm>
            <a:off x="594360" y="3566160"/>
            <a:ext cx="3656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activity_log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١٧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المزايا التقنية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"/>
          <p:cNvSpPr/>
          <p:nvPr/>
        </p:nvSpPr>
        <p:spPr>
          <a:xfrm>
            <a:off x="457200" y="1051560"/>
            <a:ext cx="82288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4"/>
          <p:cNvSpPr/>
          <p:nvPr/>
        </p:nvSpPr>
        <p:spPr>
          <a:xfrm>
            <a:off x="640080" y="109728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F6C50"/>
                </a:solidFill>
                <a:effectLst/>
                <a:uFillTx/>
                <a:latin typeface="Tajawal"/>
                <a:ea typeface="Tajawal"/>
              </a:rPr>
              <a:t>Clean Architecture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5"/>
          <p:cNvSpPr/>
          <p:nvPr/>
        </p:nvSpPr>
        <p:spPr>
          <a:xfrm>
            <a:off x="2834640" y="1097280"/>
            <a:ext cx="5668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معمارية منظمة على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8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طبقات، كل طبقة بمهمة واضحة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6"/>
          <p:cNvSpPr/>
          <p:nvPr/>
        </p:nvSpPr>
        <p:spPr>
          <a:xfrm>
            <a:off x="457200" y="1965960"/>
            <a:ext cx="82288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7"/>
          <p:cNvSpPr/>
          <p:nvPr/>
        </p:nvSpPr>
        <p:spPr>
          <a:xfrm>
            <a:off x="640080" y="201168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3NF</a:t>
            </a:r>
            <a:r>
              <a:rPr lang="en-US" sz="14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 </a:t>
            </a: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قاعدة البيانات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8"/>
          <p:cNvSpPr/>
          <p:nvPr/>
        </p:nvSpPr>
        <p:spPr>
          <a:xfrm>
            <a:off x="2834640" y="2011680"/>
            <a:ext cx="5668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15 </a:t>
            </a: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جدولًا مترابطًا دون تكرار، مع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4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حالات خاصة موثّقة؛ مخطط مرجعي يطابق هيكل النظام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9"/>
          <p:cNvSpPr/>
          <p:nvPr/>
        </p:nvSpPr>
        <p:spPr>
          <a:xfrm>
            <a:off x="457200" y="2880360"/>
            <a:ext cx="82288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0"/>
          <p:cNvSpPr/>
          <p:nvPr/>
        </p:nvSpPr>
        <p:spPr>
          <a:xfrm>
            <a:off x="640080" y="292608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الأمان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1"/>
          <p:cNvSpPr/>
          <p:nvPr/>
        </p:nvSpPr>
        <p:spPr>
          <a:xfrm>
            <a:off x="2834640" y="2926080"/>
            <a:ext cx="5668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توثيق آمن صالح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24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ساعة، قفل الحساب بعد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5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محاولات، حماية من الهجمات الشائعة، وسجل تدقيق كامل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2"/>
          <p:cNvSpPr/>
          <p:nvPr/>
        </p:nvSpPr>
        <p:spPr>
          <a:xfrm>
            <a:off x="457200" y="3794760"/>
            <a:ext cx="82288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3"/>
          <p:cNvSpPr/>
          <p:nvPr/>
        </p:nvSpPr>
        <p:spPr>
          <a:xfrm>
            <a:off x="640080" y="384048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الجودة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4"/>
          <p:cNvSpPr/>
          <p:nvPr/>
        </p:nvSpPr>
        <p:spPr>
          <a:xfrm>
            <a:off x="2834640" y="3840480"/>
            <a:ext cx="5668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أكثر من 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305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 اختبارًا تلقائيًا خاليًا من الأخطاء، وواجهات مفحوصة بدقة وجاهزة للنشر</a:t>
            </a:r>
            <a:r>
              <a:rPr lang="en-US" sz="1100" b="0" u="none" strike="noStrike">
                <a:solidFill>
                  <a:srgbClr val="4A4238"/>
                </a:solidFill>
                <a:effectLst/>
                <a:uFillTx/>
                <a:latin typeface="Tajawal"/>
                <a:ea typeface="Tajaw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النتائج والفوائد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3"/>
          <p:cNvSpPr/>
          <p:nvPr/>
        </p:nvSpPr>
        <p:spPr>
          <a:xfrm>
            <a:off x="457200" y="1051560"/>
            <a:ext cx="1645200" cy="1096560"/>
          </a:xfrm>
          <a:prstGeom prst="roundRect">
            <a:avLst>
              <a:gd name="adj" fmla="val 666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4"/>
          <p:cNvSpPr/>
          <p:nvPr/>
        </p:nvSpPr>
        <p:spPr>
          <a:xfrm>
            <a:off x="457200" y="1097280"/>
            <a:ext cx="1645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15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5"/>
          <p:cNvSpPr/>
          <p:nvPr/>
        </p:nvSpPr>
        <p:spPr>
          <a:xfrm>
            <a:off x="457200" y="160020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جدول بيانات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مترابط بلا تكرار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6"/>
          <p:cNvSpPr/>
          <p:nvPr/>
        </p:nvSpPr>
        <p:spPr>
          <a:xfrm>
            <a:off x="2331720" y="1051560"/>
            <a:ext cx="1645200" cy="1096560"/>
          </a:xfrm>
          <a:prstGeom prst="roundRect">
            <a:avLst>
              <a:gd name="adj" fmla="val 666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7"/>
          <p:cNvSpPr/>
          <p:nvPr/>
        </p:nvSpPr>
        <p:spPr>
          <a:xfrm>
            <a:off x="2331720" y="1097280"/>
            <a:ext cx="1645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88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8"/>
          <p:cNvSpPr/>
          <p:nvPr/>
        </p:nvSpPr>
        <p:spPr>
          <a:xfrm>
            <a:off x="2331720" y="160020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واجهة برمجية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جاهزة للاستخدام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9"/>
          <p:cNvSpPr/>
          <p:nvPr/>
        </p:nvSpPr>
        <p:spPr>
          <a:xfrm>
            <a:off x="4206240" y="1051560"/>
            <a:ext cx="1645200" cy="1096560"/>
          </a:xfrm>
          <a:prstGeom prst="roundRect">
            <a:avLst>
              <a:gd name="adj" fmla="val 666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0"/>
          <p:cNvSpPr/>
          <p:nvPr/>
        </p:nvSpPr>
        <p:spPr>
          <a:xfrm>
            <a:off x="4206240" y="1097280"/>
            <a:ext cx="1645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305+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1"/>
          <p:cNvSpPr/>
          <p:nvPr/>
        </p:nvSpPr>
        <p:spPr>
          <a:xfrm>
            <a:off x="4206240" y="160020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اختبارًا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تلقائيًا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2"/>
          <p:cNvSpPr/>
          <p:nvPr/>
        </p:nvSpPr>
        <p:spPr>
          <a:xfrm>
            <a:off x="6080760" y="1051560"/>
            <a:ext cx="1645200" cy="1096560"/>
          </a:xfrm>
          <a:prstGeom prst="roundRect">
            <a:avLst>
              <a:gd name="adj" fmla="val 6667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3"/>
          <p:cNvSpPr/>
          <p:nvPr/>
        </p:nvSpPr>
        <p:spPr>
          <a:xfrm>
            <a:off x="6080760" y="1097280"/>
            <a:ext cx="1645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4"/>
          <p:cNvSpPr/>
          <p:nvPr/>
        </p:nvSpPr>
        <p:spPr>
          <a:xfrm>
            <a:off x="6080760" y="160020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تطبيقان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DF7"/>
                </a:solidFill>
                <a:effectLst/>
                <a:uFillTx/>
                <a:latin typeface="Tajawal"/>
                <a:ea typeface="Tajawal"/>
              </a:rPr>
              <a:t>+ </a:t>
            </a: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خادم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5"/>
          <p:cNvSpPr/>
          <p:nvPr/>
        </p:nvSpPr>
        <p:spPr>
          <a:xfrm>
            <a:off x="7955280" y="1051560"/>
            <a:ext cx="913680" cy="1096560"/>
          </a:xfrm>
          <a:prstGeom prst="roundRect">
            <a:avLst>
              <a:gd name="adj" fmla="val 8000"/>
            </a:avLst>
          </a:prstGeom>
          <a:solidFill>
            <a:srgbClr val="5F6C5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6"/>
          <p:cNvSpPr/>
          <p:nvPr/>
        </p:nvSpPr>
        <p:spPr>
          <a:xfrm>
            <a:off x="7955280" y="1097280"/>
            <a:ext cx="913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100%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7"/>
          <p:cNvSpPr/>
          <p:nvPr/>
        </p:nvSpPr>
        <p:spPr>
          <a:xfrm>
            <a:off x="7955280" y="1600200"/>
            <a:ext cx="913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تعريب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عربي / إنجليزي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8"/>
          <p:cNvSpPr/>
          <p:nvPr/>
        </p:nvSpPr>
        <p:spPr>
          <a:xfrm>
            <a:off x="4663440" y="2468880"/>
            <a:ext cx="393120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9"/>
          <p:cNvSpPr/>
          <p:nvPr/>
        </p:nvSpPr>
        <p:spPr>
          <a:xfrm>
            <a:off x="4773240" y="2514600"/>
            <a:ext cx="371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تمكين المتعلّم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0"/>
          <p:cNvSpPr/>
          <p:nvPr/>
        </p:nvSpPr>
        <p:spPr>
          <a:xfrm>
            <a:off x="4773240" y="2761560"/>
            <a:ext cx="3711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مسار تعليمي شخصي يحترم المتطلبات المسبقة ويتكيّف مع مستوى كل متعلم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21"/>
          <p:cNvSpPr/>
          <p:nvPr/>
        </p:nvSpPr>
        <p:spPr>
          <a:xfrm>
            <a:off x="457200" y="2468880"/>
            <a:ext cx="393120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2"/>
          <p:cNvSpPr/>
          <p:nvPr/>
        </p:nvSpPr>
        <p:spPr>
          <a:xfrm>
            <a:off x="567000" y="2514600"/>
            <a:ext cx="371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شفافية التقييم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3"/>
          <p:cNvSpPr/>
          <p:nvPr/>
        </p:nvSpPr>
        <p:spPr>
          <a:xfrm>
            <a:off x="567000" y="2761560"/>
            <a:ext cx="3711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بنك أسئلة موحّد، كفاءة تُحسب بوضوح من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0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 إلى 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5</a:t>
            </a: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، وتصحيح مفهوم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24"/>
          <p:cNvSpPr/>
          <p:nvPr/>
        </p:nvSpPr>
        <p:spPr>
          <a:xfrm>
            <a:off x="4663440" y="3264480"/>
            <a:ext cx="393120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5"/>
          <p:cNvSpPr/>
          <p:nvPr/>
        </p:nvSpPr>
        <p:spPr>
          <a:xfrm>
            <a:off x="4773240" y="3310200"/>
            <a:ext cx="371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الشفافية الإدارية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6"/>
          <p:cNvSpPr/>
          <p:nvPr/>
        </p:nvSpPr>
        <p:spPr>
          <a:xfrm>
            <a:off x="4773240" y="3557160"/>
            <a:ext cx="3711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لوحة تحكم شاملة مع حماية البيانات وسجل تدقيق كامل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27"/>
          <p:cNvSpPr/>
          <p:nvPr/>
        </p:nvSpPr>
        <p:spPr>
          <a:xfrm>
            <a:off x="457200" y="3264480"/>
            <a:ext cx="3931200" cy="68508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8"/>
          <p:cNvSpPr/>
          <p:nvPr/>
        </p:nvSpPr>
        <p:spPr>
          <a:xfrm>
            <a:off x="567000" y="3310200"/>
            <a:ext cx="371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قابلية التوسع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29"/>
          <p:cNvSpPr/>
          <p:nvPr/>
        </p:nvSpPr>
        <p:spPr>
          <a:xfrm>
            <a:off x="567000" y="3557160"/>
            <a:ext cx="3711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معمارية منظمة، وواجهتان منفصلتان، جاهزة للنمو</a:t>
            </a:r>
            <a:r>
              <a:rPr lang="en-US" sz="1000" b="0" u="none" strike="noStrike">
                <a:solidFill>
                  <a:srgbClr val="4A4238"/>
                </a:solidFill>
                <a:effectLst/>
                <a:uFillTx/>
                <a:latin typeface="Tajaw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30"/>
          <p:cNvSpPr/>
          <p:nvPr/>
        </p:nvSpPr>
        <p:spPr>
          <a:xfrm>
            <a:off x="457200" y="4114800"/>
            <a:ext cx="8228880" cy="776520"/>
          </a:xfrm>
          <a:prstGeom prst="roundRect">
            <a:avLst>
              <a:gd name="adj" fmla="val 9412"/>
            </a:avLst>
          </a:prstGeom>
          <a:solidFill>
            <a:srgbClr val="2A2521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1"/>
          <p:cNvSpPr/>
          <p:nvPr/>
        </p:nvSpPr>
        <p:spPr>
          <a:xfrm>
            <a:off x="640080" y="4160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رؤية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32"/>
          <p:cNvSpPr/>
          <p:nvPr/>
        </p:nvSpPr>
        <p:spPr>
          <a:xfrm>
            <a:off x="1554480" y="4160520"/>
            <a:ext cx="6948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منظومة تكيفية تُمكّن كل متعلّم من بناء مساره المهني خطوة بخطوة، على أساس مهارات حقيقية ومستوى دقيق</a:t>
            </a:r>
            <a:r>
              <a:rPr lang="en-US" sz="1200" b="0" u="none" strike="noStrike">
                <a:solidFill>
                  <a:srgbClr val="FFFDF7"/>
                </a:solidFill>
                <a:effectLst/>
                <a:uFillTx/>
                <a:latin typeface="Tajaw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0"/>
          <p:cNvSpPr/>
          <p:nvPr/>
        </p:nvSpPr>
        <p:spPr>
          <a:xfrm>
            <a:off x="8321040" y="320040"/>
            <a:ext cx="410760" cy="410760"/>
          </a:xfrm>
          <a:prstGeom prst="ellipse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"/>
          <p:cNvSpPr/>
          <p:nvPr/>
        </p:nvSpPr>
        <p:spPr>
          <a:xfrm>
            <a:off x="8321040" y="338400"/>
            <a:ext cx="410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١٩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"/>
          <p:cNvSpPr/>
          <p:nvPr/>
        </p:nvSpPr>
        <p:spPr>
          <a:xfrm>
            <a:off x="457200" y="3200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2A2521"/>
                </a:solidFill>
                <a:effectLst/>
                <a:uFillTx/>
                <a:latin typeface="Tajawal"/>
                <a:cs typeface="Tajawal"/>
              </a:rPr>
              <a:t>التطورات المستقبلية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3"/>
          <p:cNvSpPr/>
          <p:nvPr/>
        </p:nvSpPr>
        <p:spPr>
          <a:xfrm>
            <a:off x="4663440" y="2253960"/>
            <a:ext cx="397692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4"/>
          <p:cNvSpPr/>
          <p:nvPr/>
        </p:nvSpPr>
        <p:spPr>
          <a:xfrm>
            <a:off x="4800600" y="2308680"/>
            <a:ext cx="370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محتوى أوسع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5"/>
          <p:cNvSpPr/>
          <p:nvPr/>
        </p:nvSpPr>
        <p:spPr>
          <a:xfrm>
            <a:off x="4800600" y="2574000"/>
            <a:ext cx="3702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إضافة مهارات وأدوار جديدة ومصادر تعلّم متنوعة—فيديو، كتب، ومشاريع عملية—لتغطية مجالات أوسع.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6"/>
          <p:cNvSpPr/>
          <p:nvPr/>
        </p:nvSpPr>
        <p:spPr>
          <a:xfrm>
            <a:off x="457200" y="2253960"/>
            <a:ext cx="397692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7"/>
          <p:cNvSpPr/>
          <p:nvPr/>
        </p:nvSpPr>
        <p:spPr>
          <a:xfrm>
            <a:off x="594360" y="2308680"/>
            <a:ext cx="370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ذكاء اصطناعي أعمق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8"/>
          <p:cNvSpPr/>
          <p:nvPr/>
        </p:nvSpPr>
        <p:spPr>
          <a:xfrm>
            <a:off x="594360" y="2574000"/>
            <a:ext cx="3702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الاستعانة بالنماذج اللغوية لتوليد الاختبارات والشروح والتقييم الذكي، مع بقاء النتائج شفافة وموثّقة.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9"/>
          <p:cNvSpPr/>
          <p:nvPr/>
        </p:nvSpPr>
        <p:spPr>
          <a:xfrm>
            <a:off x="4663440" y="3076920"/>
            <a:ext cx="397692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0"/>
          <p:cNvSpPr/>
          <p:nvPr/>
        </p:nvSpPr>
        <p:spPr>
          <a:xfrm>
            <a:off x="4800600" y="3131640"/>
            <a:ext cx="370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دعم المجموعات والمؤسسات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1"/>
          <p:cNvSpPr/>
          <p:nvPr/>
        </p:nvSpPr>
        <p:spPr>
          <a:xfrm>
            <a:off x="4800600" y="3396960"/>
            <a:ext cx="3702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أدوات للإشراف على فرق المتعلمين، ومتابعة تقدّم المجموعات، وتقارير موجّهة للمدرّبين والمديرين.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2"/>
          <p:cNvSpPr/>
          <p:nvPr/>
        </p:nvSpPr>
        <p:spPr>
          <a:xfrm>
            <a:off x="457200" y="3076920"/>
            <a:ext cx="397692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3"/>
          <p:cNvSpPr/>
          <p:nvPr/>
        </p:nvSpPr>
        <p:spPr>
          <a:xfrm>
            <a:off x="594360" y="3131640"/>
            <a:ext cx="370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5F6C50"/>
                </a:solidFill>
                <a:effectLst/>
                <a:uFillTx/>
                <a:latin typeface="Tajawal"/>
                <a:cs typeface="Tajawal"/>
              </a:rPr>
              <a:t>تعلّم أينما كنت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4"/>
          <p:cNvSpPr/>
          <p:nvPr/>
        </p:nvSpPr>
        <p:spPr>
          <a:xfrm>
            <a:off x="594360" y="3396960"/>
            <a:ext cx="3702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100" b="0" u="none" strike="noStrike">
                <a:solidFill>
                  <a:srgbClr val="4A4238"/>
                </a:solidFill>
                <a:effectLst/>
                <a:uFillTx/>
                <a:latin typeface="Tajawal"/>
                <a:cs typeface="Tajawal"/>
              </a:rPr>
              <a:t>تطبيق جوال يعمل على مختلف الأجهزة، مع خيار التعلّم دون اتصال بالإنترنت لمتابعة المسار في أي وقت.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 0"/>
          <p:cNvSpPr/>
          <p:nvPr/>
        </p:nvSpPr>
        <p:spPr>
          <a:xfrm>
            <a:off x="45720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B5862E"/>
                </a:solidFill>
                <a:effectLst/>
                <a:uFillTx/>
                <a:latin typeface="Tajawal"/>
                <a:ea typeface="Tajawal"/>
              </a:rPr>
              <a:t>SkillSynth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"/>
          <p:cNvSpPr/>
          <p:nvPr/>
        </p:nvSpPr>
        <p:spPr>
          <a:xfrm>
            <a:off x="457200" y="13716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000" b="1" u="none" strike="noStrike">
                <a:solidFill>
                  <a:srgbClr val="FFFDF7"/>
                </a:solidFill>
                <a:effectLst/>
                <a:uFillTx/>
                <a:latin typeface="Tajawal"/>
                <a:cs typeface="Tajawal"/>
              </a:rPr>
              <a:t>منظومة ذكية للتعلم التكيفي وبناء المهارات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2"/>
          <p:cNvSpPr/>
          <p:nvPr/>
        </p:nvSpPr>
        <p:spPr>
          <a:xfrm>
            <a:off x="3200400" y="1965960"/>
            <a:ext cx="2742480" cy="12960"/>
          </a:xfrm>
          <a:prstGeom prst="rect">
            <a:avLst/>
          </a:prstGeom>
          <a:solidFill>
            <a:srgbClr val="B586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"/>
          <p:cNvSpPr/>
          <p:nvPr/>
        </p:nvSpPr>
        <p:spPr>
          <a:xfrm>
            <a:off x="457200" y="21945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B5862E"/>
                </a:solidFill>
                <a:effectLst/>
                <a:uFillTx/>
                <a:latin typeface="Tajawal"/>
                <a:cs typeface="Tajawal"/>
              </a:rPr>
              <a:t>شكر وتقدير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4"/>
          <p:cNvSpPr/>
          <p:nvPr/>
        </p:nvSpPr>
        <p:spPr>
          <a:xfrm>
            <a:off x="457200" y="25603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إشراف: د. بدر الدين قصاب — د. سهيل خواتمي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5"/>
          <p:cNvSpPr/>
          <p:nvPr/>
        </p:nvSpPr>
        <p:spPr>
          <a:xfrm>
            <a:off x="457200" y="288036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إعداد:  زهير حمامي · علي عثمان عبد الملك ·  مصطفى منلا محمد · أحمد أحمد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6"/>
          <p:cNvSpPr/>
          <p:nvPr/>
        </p:nvSpPr>
        <p:spPr>
          <a:xfrm>
            <a:off x="457200" y="34747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u="none" strike="noStrike">
                <a:solidFill>
                  <a:srgbClr val="CFC3AE"/>
                </a:solidFill>
                <a:effectLst/>
                <a:uFillTx/>
                <a:latin typeface="Tajawal"/>
                <a:cs typeface="Tajawal"/>
              </a:rPr>
              <a:t>جامعة حلب — كلية الهندسة المعلوماتية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7"/>
          <p:cNvSpPr/>
          <p:nvPr/>
        </p:nvSpPr>
        <p:spPr>
          <a:xfrm>
            <a:off x="457200" y="379476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مشروع السنة الرابعة — </a:t>
            </a:r>
            <a:r>
              <a:rPr lang="hi-IN" sz="12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٢٠٢٥</a:t>
            </a:r>
            <a:r>
              <a:rPr lang="en-US" sz="1200" b="0" u="none" strike="noStrike">
                <a:solidFill>
                  <a:srgbClr val="7C8A6B"/>
                </a:solidFill>
                <a:effectLst/>
                <a:uFillTx/>
                <a:latin typeface="Tajawal"/>
                <a:ea typeface="Tajawal"/>
              </a:rPr>
              <a:t>–</a:t>
            </a:r>
            <a:r>
              <a:rPr lang="hi-IN" sz="1200" b="0" u="none" strike="noStrike">
                <a:solidFill>
                  <a:srgbClr val="7C8A6B"/>
                </a:solidFill>
                <a:effectLst/>
                <a:uFillTx/>
                <a:latin typeface="Tajawal"/>
                <a:cs typeface="Tajawal"/>
              </a:rPr>
              <a:t>٢٠٢٦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8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5F6C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9"/>
          <p:cNvSpPr/>
          <p:nvPr/>
        </p:nvSpPr>
        <p:spPr>
          <a:xfrm>
            <a:off x="457200" y="434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200" b="1" u="none" strike="noStrike">
                <a:solidFill>
                  <a:srgbClr val="FFFFFF"/>
                </a:solidFill>
                <a:effectLst/>
                <a:uFillTx/>
                <a:latin typeface="Tajawal"/>
                <a:cs typeface="Tajawal"/>
              </a:rPr>
              <a:t>هل لديكم أسئلة؟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Application>LibreOffice/26.8.0.3$Linux_X86_64 LibreOffice_project/680$Build-3</Application>
  <AppVersion>15.0000</AppVersion>
  <Words>0</Words>
  <Paragraphs>0</Paragraphs>
  <Company>University of Aleppo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2026-09-03T18:50:15Z</dcterms:created>
  <dc:creator>SkillSynth Team</dc:creator>
  <dc:description/>
  <dc:language>en-US</dc:language>
  <cp:lastModifiedBy/>
  <dcterms:modified xsi:type="dcterms:W3CDTF">2026-09-06T23:33:57Z</dcterms:modified>
  <cp:revision>32</cp:revision>
  <dc:subject>SkillSynth - Adaptive Learning OS</dc:subject>
  <dc:title>SkillSynth — منظومة ذكية للتعلم التكيفي وبناء المهارات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